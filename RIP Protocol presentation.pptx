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onsolas Bold" charset="1" panose="020B0709020204030204"/>
      <p:regular r:id="rId16"/>
    </p:embeddedFont>
    <p:embeddedFont>
      <p:font typeface="Georgia Bold" charset="1" panose="02040802050405020203"/>
      <p:regular r:id="rId17"/>
    </p:embeddedFont>
    <p:embeddedFont>
      <p:font typeface="Georgia Italics" charset="1" panose="02040502050405090303"/>
      <p:regular r:id="rId18"/>
    </p:embeddedFont>
    <p:embeddedFont>
      <p:font typeface="Calibri (MS)" charset="1" panose="020F0502020204030204"/>
      <p:regular r:id="rId19"/>
    </p:embeddedFont>
    <p:embeddedFont>
      <p:font typeface="Calibri (MS) Bold" charset="1" panose="020F0702030404030204"/>
      <p:regular r:id="rId20"/>
    </p:embeddedFont>
    <p:embeddedFont>
      <p:font typeface="Calibri (MS) Italics" charset="1" panose="020F05020202040A0204"/>
      <p:regular r:id="rId21"/>
    </p:embeddedFont>
    <p:embeddedFont>
      <p:font typeface="Consolas" charset="1" panose="020B060902020403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6.png" Type="http://schemas.openxmlformats.org/officeDocument/2006/relationships/image"/><Relationship Id="rId7" Target="../media/image5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92275" y="-2752725"/>
            <a:ext cx="6877050" cy="6877050"/>
            <a:chOff x="0" y="0"/>
            <a:chExt cx="9169400" cy="9169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1C7293">
                <a:alpha val="8627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9400" cy="9169400"/>
            </a:xfrm>
            <a:custGeom>
              <a:avLst/>
              <a:gdLst/>
              <a:ahLst/>
              <a:cxnLst/>
              <a:rect r="r" b="b" t="t" l="l"/>
              <a:pathLst>
                <a:path h="9169400" w="9169400">
                  <a:moveTo>
                    <a:pt x="0" y="4584700"/>
                  </a:moveTo>
                  <a:cubicBezTo>
                    <a:pt x="0" y="2052701"/>
                    <a:pt x="2052701" y="0"/>
                    <a:pt x="4584700" y="0"/>
                  </a:cubicBezTo>
                  <a:lnTo>
                    <a:pt x="4584700" y="12700"/>
                  </a:lnTo>
                  <a:lnTo>
                    <a:pt x="4584700" y="0"/>
                  </a:lnTo>
                  <a:cubicBezTo>
                    <a:pt x="7116699" y="0"/>
                    <a:pt x="9169400" y="2052701"/>
                    <a:pt x="9169400" y="4584700"/>
                  </a:cubicBezTo>
                  <a:lnTo>
                    <a:pt x="9156700" y="4584700"/>
                  </a:lnTo>
                  <a:lnTo>
                    <a:pt x="9169400" y="4584700"/>
                  </a:lnTo>
                  <a:cubicBezTo>
                    <a:pt x="9169400" y="7116699"/>
                    <a:pt x="7116699" y="9169400"/>
                    <a:pt x="4584700" y="9169400"/>
                  </a:cubicBezTo>
                  <a:lnTo>
                    <a:pt x="4584700" y="9156700"/>
                  </a:lnTo>
                  <a:lnTo>
                    <a:pt x="4584700" y="9169400"/>
                  </a:lnTo>
                  <a:cubicBezTo>
                    <a:pt x="2052701" y="9169400"/>
                    <a:pt x="0" y="7116699"/>
                    <a:pt x="0" y="4584700"/>
                  </a:cubicBezTo>
                  <a:lnTo>
                    <a:pt x="12700" y="4584700"/>
                  </a:lnTo>
                  <a:lnTo>
                    <a:pt x="25400" y="4584700"/>
                  </a:lnTo>
                  <a:lnTo>
                    <a:pt x="12700" y="4584700"/>
                  </a:lnTo>
                  <a:lnTo>
                    <a:pt x="0" y="4584700"/>
                  </a:lnTo>
                  <a:moveTo>
                    <a:pt x="25400" y="4584700"/>
                  </a:moveTo>
                  <a:cubicBezTo>
                    <a:pt x="25400" y="4591685"/>
                    <a:pt x="19685" y="4597400"/>
                    <a:pt x="12700" y="4597400"/>
                  </a:cubicBezTo>
                  <a:cubicBezTo>
                    <a:pt x="5715" y="4597400"/>
                    <a:pt x="0" y="4591685"/>
                    <a:pt x="0" y="4584700"/>
                  </a:cubicBezTo>
                  <a:cubicBezTo>
                    <a:pt x="0" y="4577715"/>
                    <a:pt x="5715" y="4572000"/>
                    <a:pt x="12700" y="4572000"/>
                  </a:cubicBezTo>
                  <a:cubicBezTo>
                    <a:pt x="19685" y="4572000"/>
                    <a:pt x="25400" y="4577715"/>
                    <a:pt x="25400" y="4584700"/>
                  </a:cubicBezTo>
                  <a:cubicBezTo>
                    <a:pt x="25400" y="7102729"/>
                    <a:pt x="2066671" y="9144000"/>
                    <a:pt x="4584700" y="9144000"/>
                  </a:cubicBezTo>
                  <a:cubicBezTo>
                    <a:pt x="7102729" y="9144000"/>
                    <a:pt x="9144000" y="7102729"/>
                    <a:pt x="9144000" y="4584700"/>
                  </a:cubicBezTo>
                  <a:cubicBezTo>
                    <a:pt x="9144000" y="2066671"/>
                    <a:pt x="7102729" y="25400"/>
                    <a:pt x="4584700" y="25400"/>
                  </a:cubicBezTo>
                  <a:lnTo>
                    <a:pt x="4584700" y="12700"/>
                  </a:lnTo>
                  <a:lnTo>
                    <a:pt x="4584700" y="25400"/>
                  </a:lnTo>
                  <a:cubicBezTo>
                    <a:pt x="2066671" y="25400"/>
                    <a:pt x="25400" y="2066671"/>
                    <a:pt x="25400" y="458470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5763875" y="-1381125"/>
            <a:ext cx="4133850" cy="4133850"/>
            <a:chOff x="0" y="0"/>
            <a:chExt cx="5511800" cy="5511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2743200"/>
                  </a:moveTo>
                  <a:cubicBezTo>
                    <a:pt x="0" y="1228217"/>
                    <a:pt x="1228217" y="0"/>
                    <a:pt x="2743200" y="0"/>
                  </a:cubicBezTo>
                  <a:cubicBezTo>
                    <a:pt x="4258183" y="0"/>
                    <a:pt x="5486400" y="1228217"/>
                    <a:pt x="5486400" y="2743200"/>
                  </a:cubicBezTo>
                  <a:cubicBezTo>
                    <a:pt x="5486400" y="4258183"/>
                    <a:pt x="4258183" y="5486400"/>
                    <a:pt x="2743200" y="5486400"/>
                  </a:cubicBezTo>
                  <a:cubicBezTo>
                    <a:pt x="1228217" y="5486400"/>
                    <a:pt x="0" y="4258183"/>
                    <a:pt x="0" y="2743200"/>
                  </a:cubicBezTo>
                  <a:close/>
                </a:path>
              </a:pathLst>
            </a:custGeom>
            <a:solidFill>
              <a:srgbClr val="22D3EE">
                <a:alpha val="3922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11800" cy="5511800"/>
            </a:xfrm>
            <a:custGeom>
              <a:avLst/>
              <a:gdLst/>
              <a:ahLst/>
              <a:cxnLst/>
              <a:rect r="r" b="b" t="t" l="l"/>
              <a:pathLst>
                <a:path h="5511800" w="5511800">
                  <a:moveTo>
                    <a:pt x="0" y="2755900"/>
                  </a:moveTo>
                  <a:cubicBezTo>
                    <a:pt x="0" y="1233805"/>
                    <a:pt x="1233805" y="0"/>
                    <a:pt x="2755900" y="0"/>
                  </a:cubicBezTo>
                  <a:lnTo>
                    <a:pt x="2755900" y="12700"/>
                  </a:lnTo>
                  <a:lnTo>
                    <a:pt x="2755900" y="0"/>
                  </a:lnTo>
                  <a:cubicBezTo>
                    <a:pt x="4277995" y="0"/>
                    <a:pt x="5511800" y="1233805"/>
                    <a:pt x="5511800" y="2755900"/>
                  </a:cubicBezTo>
                  <a:lnTo>
                    <a:pt x="5499100" y="2755900"/>
                  </a:lnTo>
                  <a:lnTo>
                    <a:pt x="5511800" y="2755900"/>
                  </a:lnTo>
                  <a:cubicBezTo>
                    <a:pt x="5511800" y="4277995"/>
                    <a:pt x="4277995" y="5511800"/>
                    <a:pt x="2755900" y="5511800"/>
                  </a:cubicBezTo>
                  <a:lnTo>
                    <a:pt x="2755900" y="5499100"/>
                  </a:lnTo>
                  <a:lnTo>
                    <a:pt x="2755900" y="5511800"/>
                  </a:lnTo>
                  <a:cubicBezTo>
                    <a:pt x="1233805" y="5511800"/>
                    <a:pt x="0" y="4277995"/>
                    <a:pt x="0" y="2755900"/>
                  </a:cubicBezTo>
                  <a:lnTo>
                    <a:pt x="12700" y="2755900"/>
                  </a:lnTo>
                  <a:lnTo>
                    <a:pt x="25400" y="2755900"/>
                  </a:lnTo>
                  <a:lnTo>
                    <a:pt x="12700" y="2755900"/>
                  </a:lnTo>
                  <a:lnTo>
                    <a:pt x="0" y="2755900"/>
                  </a:lnTo>
                  <a:moveTo>
                    <a:pt x="25400" y="2755900"/>
                  </a:moveTo>
                  <a:cubicBezTo>
                    <a:pt x="25400" y="2762885"/>
                    <a:pt x="19685" y="2768600"/>
                    <a:pt x="12700" y="2768600"/>
                  </a:cubicBezTo>
                  <a:cubicBezTo>
                    <a:pt x="5715" y="2768600"/>
                    <a:pt x="0" y="2762885"/>
                    <a:pt x="0" y="2755900"/>
                  </a:cubicBezTo>
                  <a:cubicBezTo>
                    <a:pt x="0" y="2748915"/>
                    <a:pt x="5715" y="2743200"/>
                    <a:pt x="12700" y="2743200"/>
                  </a:cubicBezTo>
                  <a:cubicBezTo>
                    <a:pt x="19685" y="2743200"/>
                    <a:pt x="25400" y="2748915"/>
                    <a:pt x="25400" y="2755900"/>
                  </a:cubicBezTo>
                  <a:cubicBezTo>
                    <a:pt x="25400" y="4263898"/>
                    <a:pt x="1247902" y="5486400"/>
                    <a:pt x="2755900" y="5486400"/>
                  </a:cubicBezTo>
                  <a:cubicBezTo>
                    <a:pt x="4263898" y="5486400"/>
                    <a:pt x="5486400" y="4263898"/>
                    <a:pt x="5486400" y="2755900"/>
                  </a:cubicBezTo>
                  <a:cubicBezTo>
                    <a:pt x="5486400" y="1247902"/>
                    <a:pt x="4263898" y="25400"/>
                    <a:pt x="2755900" y="25400"/>
                  </a:cubicBezTo>
                  <a:lnTo>
                    <a:pt x="2755900" y="12700"/>
                  </a:lnTo>
                  <a:lnTo>
                    <a:pt x="2755900" y="25400"/>
                  </a:lnTo>
                  <a:cubicBezTo>
                    <a:pt x="1247902" y="25400"/>
                    <a:pt x="25400" y="1247902"/>
                    <a:pt x="25400" y="275590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0120" y="1371600"/>
            <a:ext cx="13716000" cy="548640"/>
            <a:chOff x="0" y="0"/>
            <a:chExt cx="182880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8288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22D3EE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PROJET RÉSEAU &amp; SÉCURITÉ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0120" y="2194560"/>
            <a:ext cx="8229600" cy="3138748"/>
            <a:chOff x="0" y="0"/>
            <a:chExt cx="10972800" cy="41849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4184997"/>
            </a:xfrm>
            <a:custGeom>
              <a:avLst/>
              <a:gdLst/>
              <a:ahLst/>
              <a:cxnLst/>
              <a:rect r="r" b="b" t="t" l="l"/>
              <a:pathLst>
                <a:path h="4184997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184997"/>
                  </a:lnTo>
                  <a:lnTo>
                    <a:pt x="0" y="41849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29" r="0" b="1395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0972800" cy="4194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0"/>
                </a:lnSpc>
              </a:pPr>
              <a:r>
                <a:rPr lang="en-US" sz="165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RIP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60120" y="4526280"/>
            <a:ext cx="16459200" cy="960120"/>
            <a:chOff x="0" y="0"/>
            <a:chExt cx="21945600" cy="12801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194560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i="true">
                  <a:solidFill>
                    <a:srgbClr val="F1F5F9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Routing Information Protocol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0595" y="5682615"/>
            <a:ext cx="1664970" cy="87630"/>
            <a:chOff x="0" y="0"/>
            <a:chExt cx="2219960" cy="116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2194560" cy="91440"/>
            </a:xfrm>
            <a:custGeom>
              <a:avLst/>
              <a:gdLst/>
              <a:ahLst/>
              <a:cxnLst/>
              <a:rect r="r" b="b" t="t" l="l"/>
              <a:pathLst>
                <a:path h="914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19960" cy="116840"/>
            </a:xfrm>
            <a:custGeom>
              <a:avLst/>
              <a:gdLst/>
              <a:ahLst/>
              <a:cxnLst/>
              <a:rect r="r" b="b" t="t" l="l"/>
              <a:pathLst>
                <a:path h="116840" w="2219960">
                  <a:moveTo>
                    <a:pt x="12700" y="0"/>
                  </a:moveTo>
                  <a:lnTo>
                    <a:pt x="2207260" y="0"/>
                  </a:lnTo>
                  <a:cubicBezTo>
                    <a:pt x="2214245" y="0"/>
                    <a:pt x="2219960" y="5715"/>
                    <a:pt x="2219960" y="12700"/>
                  </a:cubicBezTo>
                  <a:lnTo>
                    <a:pt x="2219960" y="104140"/>
                  </a:lnTo>
                  <a:cubicBezTo>
                    <a:pt x="2219960" y="111125"/>
                    <a:pt x="2214245" y="116840"/>
                    <a:pt x="2207260" y="116840"/>
                  </a:cubicBezTo>
                  <a:lnTo>
                    <a:pt x="12700" y="116840"/>
                  </a:lnTo>
                  <a:cubicBezTo>
                    <a:pt x="5715" y="116840"/>
                    <a:pt x="0" y="111125"/>
                    <a:pt x="0" y="104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04140"/>
                  </a:lnTo>
                  <a:lnTo>
                    <a:pt x="12700" y="104140"/>
                  </a:lnTo>
                  <a:lnTo>
                    <a:pt x="12700" y="91440"/>
                  </a:lnTo>
                  <a:lnTo>
                    <a:pt x="2207260" y="91440"/>
                  </a:lnTo>
                  <a:lnTo>
                    <a:pt x="2207260" y="104140"/>
                  </a:lnTo>
                  <a:lnTo>
                    <a:pt x="2194560" y="104140"/>
                  </a:lnTo>
                  <a:lnTo>
                    <a:pt x="2194560" y="12700"/>
                  </a:lnTo>
                  <a:lnTo>
                    <a:pt x="2207260" y="12700"/>
                  </a:lnTo>
                  <a:lnTo>
                    <a:pt x="22072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60120" y="5966460"/>
            <a:ext cx="16459200" cy="696422"/>
            <a:chOff x="0" y="0"/>
            <a:chExt cx="21945600" cy="92856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45600" cy="928562"/>
            </a:xfrm>
            <a:custGeom>
              <a:avLst/>
              <a:gdLst/>
              <a:ahLst/>
              <a:cxnLst/>
              <a:rect r="r" b="b" t="t" l="l"/>
              <a:pathLst>
                <a:path h="92856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8562"/>
                  </a:lnTo>
                  <a:lnTo>
                    <a:pt x="0" y="9285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1271" r="0" b="-40974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21945600" cy="9952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Étude d'un protocole de routage de couche 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60120" y="7818120"/>
            <a:ext cx="480060" cy="480060"/>
            <a:chOff x="0" y="0"/>
            <a:chExt cx="640080" cy="64008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577340" y="7749540"/>
            <a:ext cx="13716000" cy="548640"/>
            <a:chOff x="0" y="0"/>
            <a:chExt cx="1828800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9"/>
                </a:lnSpc>
              </a:pPr>
              <a:r>
                <a:rPr lang="en-US" sz="2249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Membres du groupe :  [ Zahra KECIRI]  •  [Celia  RAMI ]  •  [Lisa LORTHIOIR]  •  [  Lahcen Mokhtar AMROUNE]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60120" y="8435340"/>
            <a:ext cx="480060" cy="480060"/>
            <a:chOff x="0" y="0"/>
            <a:chExt cx="640080" cy="64008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77340" y="8298180"/>
            <a:ext cx="13716000" cy="617220"/>
            <a:chOff x="0" y="0"/>
            <a:chExt cx="18288000" cy="8229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288000" cy="822960"/>
            </a:xfrm>
            <a:custGeom>
              <a:avLst/>
              <a:gdLst/>
              <a:ahLst/>
              <a:cxnLst/>
              <a:rect r="r" b="b" t="t" l="l"/>
              <a:pathLst>
                <a:path h="8229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556" r="0" b="-37744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1828800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9"/>
                </a:lnSpc>
              </a:pPr>
              <a:r>
                <a:rPr lang="en-US" sz="2349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Université Clermont Auvergne  •  Avril 2026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5078075" y="7808595"/>
            <a:ext cx="2282190" cy="1184910"/>
            <a:chOff x="0" y="0"/>
            <a:chExt cx="3042920" cy="15798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2700" y="12700"/>
              <a:ext cx="30175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042920" cy="1579880"/>
            </a:xfrm>
            <a:custGeom>
              <a:avLst/>
              <a:gdLst/>
              <a:ahLst/>
              <a:cxnLst/>
              <a:rect r="r" b="b" t="t" l="l"/>
              <a:pathLst>
                <a:path h="1579880" w="3042920">
                  <a:moveTo>
                    <a:pt x="12700" y="0"/>
                  </a:moveTo>
                  <a:lnTo>
                    <a:pt x="3030220" y="0"/>
                  </a:lnTo>
                  <a:cubicBezTo>
                    <a:pt x="3037205" y="0"/>
                    <a:pt x="3042920" y="5715"/>
                    <a:pt x="3042920" y="12700"/>
                  </a:cubicBezTo>
                  <a:lnTo>
                    <a:pt x="3042920" y="1567180"/>
                  </a:lnTo>
                  <a:cubicBezTo>
                    <a:pt x="3042920" y="1574165"/>
                    <a:pt x="3037205" y="1579880"/>
                    <a:pt x="3030220" y="1579880"/>
                  </a:cubicBezTo>
                  <a:lnTo>
                    <a:pt x="12700" y="1579880"/>
                  </a:lnTo>
                  <a:cubicBezTo>
                    <a:pt x="5715" y="1579880"/>
                    <a:pt x="0" y="1574165"/>
                    <a:pt x="0" y="15671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67180"/>
                  </a:lnTo>
                  <a:lnTo>
                    <a:pt x="12700" y="1567180"/>
                  </a:lnTo>
                  <a:lnTo>
                    <a:pt x="12700" y="1554480"/>
                  </a:lnTo>
                  <a:lnTo>
                    <a:pt x="3030220" y="1554480"/>
                  </a:lnTo>
                  <a:lnTo>
                    <a:pt x="3030220" y="1567180"/>
                  </a:lnTo>
                  <a:lnTo>
                    <a:pt x="3017520" y="1567180"/>
                  </a:lnTo>
                  <a:lnTo>
                    <a:pt x="3017520" y="12700"/>
                  </a:lnTo>
                  <a:lnTo>
                    <a:pt x="3030220" y="12700"/>
                  </a:lnTo>
                  <a:lnTo>
                    <a:pt x="30302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5087600" y="7818120"/>
            <a:ext cx="2263140" cy="480060"/>
            <a:chOff x="0" y="0"/>
            <a:chExt cx="3017520" cy="6400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017520" cy="640080"/>
            </a:xfrm>
            <a:custGeom>
              <a:avLst/>
              <a:gdLst/>
              <a:ahLst/>
              <a:cxnLst/>
              <a:rect r="r" b="b" t="t" l="l"/>
              <a:pathLst>
                <a:path h="64008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301752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450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OSI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5087600" y="8161020"/>
            <a:ext cx="2263140" cy="754380"/>
            <a:chOff x="0" y="0"/>
            <a:chExt cx="3017520" cy="10058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017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301752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B1F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Couche 3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80060"/>
            <a:ext cx="16870680" cy="822960"/>
            <a:chOff x="0" y="0"/>
            <a:chExt cx="2249424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942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4942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1F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Plan de la présentation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1303020"/>
            <a:ext cx="16870680" cy="480060"/>
            <a:chOff x="0" y="0"/>
            <a:chExt cx="22494240" cy="640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94239" cy="640080"/>
            </a:xfrm>
            <a:custGeom>
              <a:avLst/>
              <a:gdLst/>
              <a:ahLst/>
              <a:cxnLst/>
              <a:rect r="r" b="b" t="t" l="l"/>
              <a:pathLst>
                <a:path h="6400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4759" r="0" b="-63475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24942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1C729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Notre démarche en quatre temps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76275" y="1910715"/>
            <a:ext cx="704850" cy="101346"/>
            <a:chOff x="0" y="0"/>
            <a:chExt cx="939800" cy="135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" y="12700"/>
              <a:ext cx="914400" cy="109728"/>
            </a:xfrm>
            <a:custGeom>
              <a:avLst/>
              <a:gdLst/>
              <a:ahLst/>
              <a:cxnLst/>
              <a:rect r="r" b="b" t="t" l="l"/>
              <a:pathLst>
                <a:path h="109728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9800" cy="135128"/>
            </a:xfrm>
            <a:custGeom>
              <a:avLst/>
              <a:gdLst/>
              <a:ahLst/>
              <a:cxnLst/>
              <a:rect r="r" b="b" t="t" l="l"/>
              <a:pathLst>
                <a:path h="135128" w="939800">
                  <a:moveTo>
                    <a:pt x="12700" y="0"/>
                  </a:moveTo>
                  <a:lnTo>
                    <a:pt x="927100" y="0"/>
                  </a:lnTo>
                  <a:cubicBezTo>
                    <a:pt x="934085" y="0"/>
                    <a:pt x="939800" y="5715"/>
                    <a:pt x="939800" y="12700"/>
                  </a:cubicBezTo>
                  <a:lnTo>
                    <a:pt x="939800" y="122428"/>
                  </a:lnTo>
                  <a:cubicBezTo>
                    <a:pt x="939800" y="129413"/>
                    <a:pt x="934085" y="135128"/>
                    <a:pt x="927100" y="135128"/>
                  </a:cubicBezTo>
                  <a:lnTo>
                    <a:pt x="12700" y="135128"/>
                  </a:lnTo>
                  <a:cubicBezTo>
                    <a:pt x="5715" y="135128"/>
                    <a:pt x="0" y="129413"/>
                    <a:pt x="0" y="12242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2428"/>
                  </a:lnTo>
                  <a:lnTo>
                    <a:pt x="12700" y="122428"/>
                  </a:lnTo>
                  <a:lnTo>
                    <a:pt x="12700" y="109728"/>
                  </a:lnTo>
                  <a:lnTo>
                    <a:pt x="927100" y="109728"/>
                  </a:lnTo>
                  <a:lnTo>
                    <a:pt x="927100" y="122428"/>
                  </a:lnTo>
                  <a:lnTo>
                    <a:pt x="914400" y="122428"/>
                  </a:lnTo>
                  <a:lnTo>
                    <a:pt x="914400" y="12700"/>
                  </a:lnTo>
                  <a:lnTo>
                    <a:pt x="927100" y="12700"/>
                  </a:lnTo>
                  <a:lnTo>
                    <a:pt x="9271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2537460"/>
            <a:ext cx="1645920" cy="1371600"/>
            <a:chOff x="0" y="0"/>
            <a:chExt cx="2194560" cy="1828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19456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0"/>
                </a:lnSpc>
              </a:pPr>
              <a:r>
                <a:rPr lang="en-US" sz="8400" b="true">
                  <a:solidFill>
                    <a:srgbClr val="22D3E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527935" y="2665095"/>
            <a:ext cx="19050" cy="1116330"/>
            <a:chOff x="0" y="0"/>
            <a:chExt cx="25400" cy="1488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12700"/>
              <a:ext cx="25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5400">
                  <a:moveTo>
                    <a:pt x="25400" y="0"/>
                  </a:moveTo>
                  <a:lnTo>
                    <a:pt x="25400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880360" y="2674620"/>
            <a:ext cx="13716000" cy="548640"/>
            <a:chOff x="0" y="0"/>
            <a:chExt cx="182880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82880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B1F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Contexte &amp; théorie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880360" y="3291840"/>
            <a:ext cx="13716000" cy="548640"/>
            <a:chOff x="0" y="0"/>
            <a:chExt cx="1828800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Rôle de RIP, place dans OSI, principes du routage à vecteur de distance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22960" y="4114800"/>
            <a:ext cx="1645920" cy="1371600"/>
            <a:chOff x="0" y="0"/>
            <a:chExt cx="2194560" cy="1828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45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219456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0"/>
                </a:lnSpc>
              </a:pPr>
              <a:r>
                <a:rPr lang="en-US" sz="8400" b="true">
                  <a:solidFill>
                    <a:srgbClr val="22D3E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527935" y="4242435"/>
            <a:ext cx="19050" cy="1116330"/>
            <a:chOff x="0" y="0"/>
            <a:chExt cx="25400" cy="14884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12700"/>
              <a:ext cx="25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5400">
                  <a:moveTo>
                    <a:pt x="25400" y="0"/>
                  </a:moveTo>
                  <a:lnTo>
                    <a:pt x="25400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2880360" y="4251960"/>
            <a:ext cx="13716000" cy="548640"/>
            <a:chOff x="0" y="0"/>
            <a:chExt cx="1828800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182880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B1F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Fonctionnement détaillé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880360" y="4869180"/>
            <a:ext cx="13716000" cy="548640"/>
            <a:chOff x="0" y="0"/>
            <a:chExt cx="1828800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Format des messages, métrique, table de routage, temporisateurs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2960" y="5692140"/>
            <a:ext cx="1645920" cy="1371600"/>
            <a:chOff x="0" y="0"/>
            <a:chExt cx="2194560" cy="1828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945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219456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0"/>
                </a:lnSpc>
              </a:pPr>
              <a:r>
                <a:rPr lang="en-US" sz="8400" b="true">
                  <a:solidFill>
                    <a:srgbClr val="22D3E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527935" y="5819775"/>
            <a:ext cx="19050" cy="1116330"/>
            <a:chOff x="0" y="0"/>
            <a:chExt cx="25400" cy="14884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12700"/>
              <a:ext cx="25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5400">
                  <a:moveTo>
                    <a:pt x="25400" y="0"/>
                  </a:moveTo>
                  <a:lnTo>
                    <a:pt x="25400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880360" y="5829300"/>
            <a:ext cx="13716000" cy="548640"/>
            <a:chOff x="0" y="0"/>
            <a:chExt cx="1828800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182880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B1F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Démonstration Packet Tracer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880360" y="6446520"/>
            <a:ext cx="13716000" cy="548640"/>
            <a:chOff x="0" y="0"/>
            <a:chExt cx="1828800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Topologie, configuration des routeurs et capture des paquets RIP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22960" y="7269480"/>
            <a:ext cx="1645920" cy="1371600"/>
            <a:chOff x="0" y="0"/>
            <a:chExt cx="2194560" cy="1828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945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219456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0"/>
                </a:lnSpc>
              </a:pPr>
              <a:r>
                <a:rPr lang="en-US" sz="8400" b="true">
                  <a:solidFill>
                    <a:srgbClr val="22D3E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04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527935" y="7397115"/>
            <a:ext cx="19050" cy="1116330"/>
            <a:chOff x="0" y="0"/>
            <a:chExt cx="25400" cy="14884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12700"/>
              <a:ext cx="25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5400">
                  <a:moveTo>
                    <a:pt x="25400" y="0"/>
                  </a:moveTo>
                  <a:lnTo>
                    <a:pt x="25400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2880360" y="7406640"/>
            <a:ext cx="13716000" cy="548640"/>
            <a:chOff x="0" y="0"/>
            <a:chExt cx="1828800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182880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B1F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Analyse critique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880360" y="8023860"/>
            <a:ext cx="13716000" cy="548640"/>
            <a:chOff x="0" y="0"/>
            <a:chExt cx="18288000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Limites, vulnérabilités de sécurité et alternatives modernes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678656" y="9662636"/>
            <a:ext cx="16884968" cy="14288"/>
            <a:chOff x="0" y="0"/>
            <a:chExt cx="22513290" cy="1905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9525" y="0"/>
              <a:ext cx="22494239" cy="19050"/>
            </a:xfrm>
            <a:custGeom>
              <a:avLst/>
              <a:gdLst/>
              <a:ahLst/>
              <a:cxnLst/>
              <a:rect r="r" b="b" t="t" l="l"/>
              <a:pathLst>
                <a:path h="1905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685800" y="9738360"/>
            <a:ext cx="10972800" cy="411480"/>
            <a:chOff x="0" y="0"/>
            <a:chExt cx="14630400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RIP — Routing Information Protocol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6184880" y="9738360"/>
            <a:ext cx="1371600" cy="411480"/>
            <a:chOff x="0" y="0"/>
            <a:chExt cx="1828800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 / 12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80060"/>
            <a:ext cx="16870680" cy="856022"/>
            <a:chOff x="0" y="0"/>
            <a:chExt cx="22494240" cy="11413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94239" cy="1141363"/>
            </a:xfrm>
            <a:custGeom>
              <a:avLst/>
              <a:gdLst/>
              <a:ahLst/>
              <a:cxnLst/>
              <a:rect r="r" b="b" t="t" l="l"/>
              <a:pathLst>
                <a:path h="1141363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141363"/>
                  </a:lnTo>
                  <a:lnTo>
                    <a:pt x="0" y="114136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5946" r="0" b="-33208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494240" cy="11604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1F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Qu'est-ce que RIP ?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1303020"/>
            <a:ext cx="16870680" cy="480060"/>
            <a:chOff x="0" y="0"/>
            <a:chExt cx="22494240" cy="640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94239" cy="640080"/>
            </a:xfrm>
            <a:custGeom>
              <a:avLst/>
              <a:gdLst/>
              <a:ahLst/>
              <a:cxnLst/>
              <a:rect r="r" b="b" t="t" l="l"/>
              <a:pathLst>
                <a:path h="6400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4759" r="0" b="-63475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24942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1C729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Un protocole de routage intérieur historique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76275" y="1910715"/>
            <a:ext cx="704850" cy="101346"/>
            <a:chOff x="0" y="0"/>
            <a:chExt cx="939800" cy="135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" y="12700"/>
              <a:ext cx="914400" cy="109728"/>
            </a:xfrm>
            <a:custGeom>
              <a:avLst/>
              <a:gdLst/>
              <a:ahLst/>
              <a:cxnLst/>
              <a:rect r="r" b="b" t="t" l="l"/>
              <a:pathLst>
                <a:path h="109728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9800" cy="135128"/>
            </a:xfrm>
            <a:custGeom>
              <a:avLst/>
              <a:gdLst/>
              <a:ahLst/>
              <a:cxnLst/>
              <a:rect r="r" b="b" t="t" l="l"/>
              <a:pathLst>
                <a:path h="135128" w="939800">
                  <a:moveTo>
                    <a:pt x="12700" y="0"/>
                  </a:moveTo>
                  <a:lnTo>
                    <a:pt x="927100" y="0"/>
                  </a:lnTo>
                  <a:cubicBezTo>
                    <a:pt x="934085" y="0"/>
                    <a:pt x="939800" y="5715"/>
                    <a:pt x="939800" y="12700"/>
                  </a:cubicBezTo>
                  <a:lnTo>
                    <a:pt x="939800" y="122428"/>
                  </a:lnTo>
                  <a:cubicBezTo>
                    <a:pt x="939800" y="129413"/>
                    <a:pt x="934085" y="135128"/>
                    <a:pt x="927100" y="135128"/>
                  </a:cubicBezTo>
                  <a:lnTo>
                    <a:pt x="12700" y="135128"/>
                  </a:lnTo>
                  <a:cubicBezTo>
                    <a:pt x="5715" y="135128"/>
                    <a:pt x="0" y="129413"/>
                    <a:pt x="0" y="12242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2428"/>
                  </a:lnTo>
                  <a:lnTo>
                    <a:pt x="12700" y="122428"/>
                  </a:lnTo>
                  <a:lnTo>
                    <a:pt x="12700" y="109728"/>
                  </a:lnTo>
                  <a:lnTo>
                    <a:pt x="927100" y="109728"/>
                  </a:lnTo>
                  <a:lnTo>
                    <a:pt x="927100" y="122428"/>
                  </a:lnTo>
                  <a:lnTo>
                    <a:pt x="914400" y="122428"/>
                  </a:lnTo>
                  <a:lnTo>
                    <a:pt x="914400" y="12700"/>
                  </a:lnTo>
                  <a:lnTo>
                    <a:pt x="927100" y="12700"/>
                  </a:lnTo>
                  <a:lnTo>
                    <a:pt x="9271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81038" y="2326958"/>
            <a:ext cx="8239125" cy="7004685"/>
            <a:chOff x="0" y="0"/>
            <a:chExt cx="10985500" cy="93395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10972800" cy="9326880"/>
            </a:xfrm>
            <a:custGeom>
              <a:avLst/>
              <a:gdLst/>
              <a:ahLst/>
              <a:cxnLst/>
              <a:rect r="r" b="b" t="t" l="l"/>
              <a:pathLst>
                <a:path h="93268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326880"/>
                  </a:lnTo>
                  <a:lnTo>
                    <a:pt x="0" y="93268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85500" cy="9339580"/>
            </a:xfrm>
            <a:custGeom>
              <a:avLst/>
              <a:gdLst/>
              <a:ahLst/>
              <a:cxnLst/>
              <a:rect r="r" b="b" t="t" l="l"/>
              <a:pathLst>
                <a:path h="9339580" w="10985500">
                  <a:moveTo>
                    <a:pt x="6350" y="0"/>
                  </a:moveTo>
                  <a:lnTo>
                    <a:pt x="10979150" y="0"/>
                  </a:lnTo>
                  <a:cubicBezTo>
                    <a:pt x="10982706" y="0"/>
                    <a:pt x="10985500" y="2794"/>
                    <a:pt x="10985500" y="6350"/>
                  </a:cubicBezTo>
                  <a:lnTo>
                    <a:pt x="10985500" y="9333230"/>
                  </a:lnTo>
                  <a:cubicBezTo>
                    <a:pt x="10985500" y="9336787"/>
                    <a:pt x="10982706" y="9339580"/>
                    <a:pt x="10979150" y="9339580"/>
                  </a:cubicBezTo>
                  <a:lnTo>
                    <a:pt x="6350" y="9339580"/>
                  </a:lnTo>
                  <a:cubicBezTo>
                    <a:pt x="2794" y="9339580"/>
                    <a:pt x="0" y="9336787"/>
                    <a:pt x="0" y="933323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9333230"/>
                  </a:lnTo>
                  <a:lnTo>
                    <a:pt x="6350" y="9333230"/>
                  </a:lnTo>
                  <a:lnTo>
                    <a:pt x="6350" y="9326880"/>
                  </a:lnTo>
                  <a:lnTo>
                    <a:pt x="10979150" y="9326880"/>
                  </a:lnTo>
                  <a:lnTo>
                    <a:pt x="10979150" y="9333230"/>
                  </a:lnTo>
                  <a:lnTo>
                    <a:pt x="10972800" y="9333230"/>
                  </a:lnTo>
                  <a:lnTo>
                    <a:pt x="10972800" y="6350"/>
                  </a:lnTo>
                  <a:lnTo>
                    <a:pt x="10979150" y="6350"/>
                  </a:lnTo>
                  <a:lnTo>
                    <a:pt x="1097915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76275" y="2322195"/>
            <a:ext cx="128778" cy="7014210"/>
            <a:chOff x="0" y="0"/>
            <a:chExt cx="171704" cy="9352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146304" cy="9326880"/>
            </a:xfrm>
            <a:custGeom>
              <a:avLst/>
              <a:gdLst/>
              <a:ahLst/>
              <a:cxnLst/>
              <a:rect r="r" b="b" t="t" l="l"/>
              <a:pathLst>
                <a:path h="93268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9326880"/>
                  </a:lnTo>
                  <a:lnTo>
                    <a:pt x="0" y="9326880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1704" cy="9352280"/>
            </a:xfrm>
            <a:custGeom>
              <a:avLst/>
              <a:gdLst/>
              <a:ahLst/>
              <a:cxnLst/>
              <a:rect r="r" b="b" t="t" l="l"/>
              <a:pathLst>
                <a:path h="935228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9339580"/>
                  </a:lnTo>
                  <a:cubicBezTo>
                    <a:pt x="171704" y="9346565"/>
                    <a:pt x="165989" y="9352280"/>
                    <a:pt x="159004" y="9352280"/>
                  </a:cubicBezTo>
                  <a:lnTo>
                    <a:pt x="12700" y="9352280"/>
                  </a:lnTo>
                  <a:cubicBezTo>
                    <a:pt x="5715" y="9352280"/>
                    <a:pt x="0" y="9346565"/>
                    <a:pt x="0" y="93395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339580"/>
                  </a:lnTo>
                  <a:lnTo>
                    <a:pt x="12700" y="9339580"/>
                  </a:lnTo>
                  <a:lnTo>
                    <a:pt x="12700" y="9326880"/>
                  </a:lnTo>
                  <a:lnTo>
                    <a:pt x="159004" y="9326880"/>
                  </a:lnTo>
                  <a:lnTo>
                    <a:pt x="159004" y="9339580"/>
                  </a:lnTo>
                  <a:lnTo>
                    <a:pt x="146304" y="933958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65860" y="2674620"/>
            <a:ext cx="548640" cy="548640"/>
            <a:chOff x="0" y="0"/>
            <a:chExt cx="731520" cy="73152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920240" y="2674620"/>
            <a:ext cx="6858000" cy="548640"/>
            <a:chOff x="0" y="0"/>
            <a:chExt cx="914400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91440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B1F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Définition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65860" y="3312795"/>
            <a:ext cx="754380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B1F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RIP (Routing Information Protocol)</a:t>
            </a:r>
            <a:r>
              <a:rPr lang="en-US" sz="21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 est un protocole de routage de type </a:t>
            </a:r>
            <a:r>
              <a:rPr lang="en-US" sz="210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IGP</a:t>
            </a:r>
            <a:r>
              <a:rPr lang="en-US" sz="21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 (Interior Gateway Protocol) à </a:t>
            </a:r>
            <a:r>
              <a:rPr lang="en-US" sz="210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vecteur de distance</a:t>
            </a:r>
            <a:r>
              <a:rPr lang="en-US" sz="21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65860" y="4703445"/>
            <a:ext cx="7543800" cy="1645920"/>
            <a:chOff x="0" y="0"/>
            <a:chExt cx="10058400" cy="21945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584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0584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c'est un protocole qui permet à des routeurs d'un même réseau de s'échanger automatiquement leurs tables de routage.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65860" y="6652260"/>
            <a:ext cx="6858000" cy="411480"/>
            <a:chOff x="0" y="0"/>
            <a:chExt cx="9144000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50">
                  <a:solidFill>
                    <a:srgbClr val="1C7293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HISTORIQUE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56335" y="7122795"/>
            <a:ext cx="361950" cy="361950"/>
            <a:chOff x="0" y="0"/>
            <a:chExt cx="482600" cy="482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2700" y="1270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cubicBezTo>
                    <a:pt x="354838" y="0"/>
                    <a:pt x="457200" y="102362"/>
                    <a:pt x="457200" y="228600"/>
                  </a:cubicBezTo>
                  <a:cubicBezTo>
                    <a:pt x="457200" y="354838"/>
                    <a:pt x="354838" y="457200"/>
                    <a:pt x="228600" y="457200"/>
                  </a:cubicBezTo>
                  <a:cubicBezTo>
                    <a:pt x="102362" y="457200"/>
                    <a:pt x="0" y="354838"/>
                    <a:pt x="0" y="22860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0" y="241300"/>
                  </a:moveTo>
                  <a:cubicBezTo>
                    <a:pt x="0" y="108077"/>
                    <a:pt x="108077" y="0"/>
                    <a:pt x="241300" y="0"/>
                  </a:cubicBezTo>
                  <a:cubicBezTo>
                    <a:pt x="374523" y="0"/>
                    <a:pt x="482600" y="108077"/>
                    <a:pt x="482600" y="241300"/>
                  </a:cubicBezTo>
                  <a:lnTo>
                    <a:pt x="469900" y="241300"/>
                  </a:lnTo>
                  <a:lnTo>
                    <a:pt x="482600" y="241300"/>
                  </a:lnTo>
                  <a:cubicBezTo>
                    <a:pt x="482600" y="374523"/>
                    <a:pt x="374523" y="482600"/>
                    <a:pt x="241300" y="482600"/>
                  </a:cubicBezTo>
                  <a:lnTo>
                    <a:pt x="241300" y="469900"/>
                  </a:lnTo>
                  <a:lnTo>
                    <a:pt x="241300" y="482600"/>
                  </a:lnTo>
                  <a:cubicBezTo>
                    <a:pt x="108077" y="482600"/>
                    <a:pt x="0" y="374523"/>
                    <a:pt x="0" y="241300"/>
                  </a:cubicBezTo>
                  <a:lnTo>
                    <a:pt x="12700" y="241300"/>
                  </a:lnTo>
                  <a:lnTo>
                    <a:pt x="25400" y="241300"/>
                  </a:lnTo>
                  <a:lnTo>
                    <a:pt x="12700" y="241300"/>
                  </a:lnTo>
                  <a:lnTo>
                    <a:pt x="0" y="241300"/>
                  </a:lnTo>
                  <a:moveTo>
                    <a:pt x="25400" y="241300"/>
                  </a:moveTo>
                  <a:cubicBezTo>
                    <a:pt x="25400" y="248285"/>
                    <a:pt x="19685" y="254000"/>
                    <a:pt x="12700" y="254000"/>
                  </a:cubicBezTo>
                  <a:cubicBezTo>
                    <a:pt x="5715" y="254000"/>
                    <a:pt x="0" y="248285"/>
                    <a:pt x="0" y="241300"/>
                  </a:cubicBezTo>
                  <a:cubicBezTo>
                    <a:pt x="0" y="234315"/>
                    <a:pt x="5715" y="228600"/>
                    <a:pt x="12700" y="228600"/>
                  </a:cubicBezTo>
                  <a:cubicBezTo>
                    <a:pt x="19685" y="228600"/>
                    <a:pt x="25400" y="234315"/>
                    <a:pt x="25400" y="241300"/>
                  </a:cubicBezTo>
                  <a:cubicBezTo>
                    <a:pt x="25400" y="360553"/>
                    <a:pt x="122047" y="457200"/>
                    <a:pt x="241300" y="457200"/>
                  </a:cubicBezTo>
                  <a:cubicBezTo>
                    <a:pt x="360553" y="457200"/>
                    <a:pt x="457200" y="360553"/>
                    <a:pt x="457200" y="241300"/>
                  </a:cubicBezTo>
                  <a:cubicBezTo>
                    <a:pt x="457200" y="122047"/>
                    <a:pt x="360553" y="25400"/>
                    <a:pt x="241300" y="25400"/>
                  </a:cubicBezTo>
                  <a:lnTo>
                    <a:pt x="241300" y="12700"/>
                  </a:lnTo>
                  <a:lnTo>
                    <a:pt x="241300" y="25400"/>
                  </a:lnTo>
                  <a:cubicBezTo>
                    <a:pt x="122047" y="25400"/>
                    <a:pt x="25400" y="122047"/>
                    <a:pt x="25400" y="24130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645920" y="7063740"/>
            <a:ext cx="1234440" cy="480060"/>
            <a:chOff x="0" y="0"/>
            <a:chExt cx="1645920" cy="6400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45920" cy="640080"/>
            </a:xfrm>
            <a:custGeom>
              <a:avLst/>
              <a:gdLst/>
              <a:ahLst/>
              <a:cxnLst/>
              <a:rect r="r" b="b" t="t" l="l"/>
              <a:pathLst>
                <a:path h="64008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64592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B1F3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1988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948940" y="7063740"/>
            <a:ext cx="5486400" cy="480060"/>
            <a:chOff x="0" y="0"/>
            <a:chExt cx="7315200" cy="640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73152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RIPv1 — RFC 1058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56335" y="7740015"/>
            <a:ext cx="361950" cy="361950"/>
            <a:chOff x="0" y="0"/>
            <a:chExt cx="482600" cy="482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2700" y="1270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cubicBezTo>
                    <a:pt x="354838" y="0"/>
                    <a:pt x="457200" y="102362"/>
                    <a:pt x="457200" y="228600"/>
                  </a:cubicBezTo>
                  <a:cubicBezTo>
                    <a:pt x="457200" y="354838"/>
                    <a:pt x="354838" y="457200"/>
                    <a:pt x="228600" y="457200"/>
                  </a:cubicBezTo>
                  <a:cubicBezTo>
                    <a:pt x="102362" y="457200"/>
                    <a:pt x="0" y="354838"/>
                    <a:pt x="0" y="22860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0" y="241300"/>
                  </a:moveTo>
                  <a:cubicBezTo>
                    <a:pt x="0" y="108077"/>
                    <a:pt x="108077" y="0"/>
                    <a:pt x="241300" y="0"/>
                  </a:cubicBezTo>
                  <a:cubicBezTo>
                    <a:pt x="374523" y="0"/>
                    <a:pt x="482600" y="108077"/>
                    <a:pt x="482600" y="241300"/>
                  </a:cubicBezTo>
                  <a:lnTo>
                    <a:pt x="469900" y="241300"/>
                  </a:lnTo>
                  <a:lnTo>
                    <a:pt x="482600" y="241300"/>
                  </a:lnTo>
                  <a:cubicBezTo>
                    <a:pt x="482600" y="374523"/>
                    <a:pt x="374523" y="482600"/>
                    <a:pt x="241300" y="482600"/>
                  </a:cubicBezTo>
                  <a:lnTo>
                    <a:pt x="241300" y="469900"/>
                  </a:lnTo>
                  <a:lnTo>
                    <a:pt x="241300" y="482600"/>
                  </a:lnTo>
                  <a:cubicBezTo>
                    <a:pt x="108077" y="482600"/>
                    <a:pt x="0" y="374523"/>
                    <a:pt x="0" y="241300"/>
                  </a:cubicBezTo>
                  <a:lnTo>
                    <a:pt x="12700" y="241300"/>
                  </a:lnTo>
                  <a:lnTo>
                    <a:pt x="25400" y="241300"/>
                  </a:lnTo>
                  <a:lnTo>
                    <a:pt x="12700" y="241300"/>
                  </a:lnTo>
                  <a:lnTo>
                    <a:pt x="0" y="241300"/>
                  </a:lnTo>
                  <a:moveTo>
                    <a:pt x="25400" y="241300"/>
                  </a:moveTo>
                  <a:cubicBezTo>
                    <a:pt x="25400" y="248285"/>
                    <a:pt x="19685" y="254000"/>
                    <a:pt x="12700" y="254000"/>
                  </a:cubicBezTo>
                  <a:cubicBezTo>
                    <a:pt x="5715" y="254000"/>
                    <a:pt x="0" y="248285"/>
                    <a:pt x="0" y="241300"/>
                  </a:cubicBezTo>
                  <a:cubicBezTo>
                    <a:pt x="0" y="234315"/>
                    <a:pt x="5715" y="228600"/>
                    <a:pt x="12700" y="228600"/>
                  </a:cubicBezTo>
                  <a:cubicBezTo>
                    <a:pt x="19685" y="228600"/>
                    <a:pt x="25400" y="234315"/>
                    <a:pt x="25400" y="241300"/>
                  </a:cubicBezTo>
                  <a:cubicBezTo>
                    <a:pt x="25400" y="360553"/>
                    <a:pt x="122047" y="457200"/>
                    <a:pt x="241300" y="457200"/>
                  </a:cubicBezTo>
                  <a:cubicBezTo>
                    <a:pt x="360553" y="457200"/>
                    <a:pt x="457200" y="360553"/>
                    <a:pt x="457200" y="241300"/>
                  </a:cubicBezTo>
                  <a:cubicBezTo>
                    <a:pt x="457200" y="122047"/>
                    <a:pt x="360553" y="25400"/>
                    <a:pt x="241300" y="25400"/>
                  </a:cubicBezTo>
                  <a:lnTo>
                    <a:pt x="241300" y="12700"/>
                  </a:lnTo>
                  <a:lnTo>
                    <a:pt x="241300" y="25400"/>
                  </a:lnTo>
                  <a:cubicBezTo>
                    <a:pt x="122047" y="25400"/>
                    <a:pt x="25400" y="122047"/>
                    <a:pt x="25400" y="24130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645920" y="7680960"/>
            <a:ext cx="1234440" cy="480060"/>
            <a:chOff x="0" y="0"/>
            <a:chExt cx="1645920" cy="6400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645920" cy="640080"/>
            </a:xfrm>
            <a:custGeom>
              <a:avLst/>
              <a:gdLst/>
              <a:ahLst/>
              <a:cxnLst/>
              <a:rect r="r" b="b" t="t" l="l"/>
              <a:pathLst>
                <a:path h="64008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64592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B1F3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1998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948940" y="7680960"/>
            <a:ext cx="5486400" cy="480060"/>
            <a:chOff x="0" y="0"/>
            <a:chExt cx="7315200" cy="640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31520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73152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RIPv2 — RFC 2453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56335" y="8357235"/>
            <a:ext cx="361950" cy="361950"/>
            <a:chOff x="0" y="0"/>
            <a:chExt cx="482600" cy="482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2700" y="1270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cubicBezTo>
                    <a:pt x="354838" y="0"/>
                    <a:pt x="457200" y="102362"/>
                    <a:pt x="457200" y="228600"/>
                  </a:cubicBezTo>
                  <a:cubicBezTo>
                    <a:pt x="457200" y="354838"/>
                    <a:pt x="354838" y="457200"/>
                    <a:pt x="228600" y="457200"/>
                  </a:cubicBezTo>
                  <a:cubicBezTo>
                    <a:pt x="102362" y="457200"/>
                    <a:pt x="0" y="354838"/>
                    <a:pt x="0" y="22860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0" y="241300"/>
                  </a:moveTo>
                  <a:cubicBezTo>
                    <a:pt x="0" y="108077"/>
                    <a:pt x="108077" y="0"/>
                    <a:pt x="241300" y="0"/>
                  </a:cubicBezTo>
                  <a:cubicBezTo>
                    <a:pt x="374523" y="0"/>
                    <a:pt x="482600" y="108077"/>
                    <a:pt x="482600" y="241300"/>
                  </a:cubicBezTo>
                  <a:lnTo>
                    <a:pt x="469900" y="241300"/>
                  </a:lnTo>
                  <a:lnTo>
                    <a:pt x="482600" y="241300"/>
                  </a:lnTo>
                  <a:cubicBezTo>
                    <a:pt x="482600" y="374523"/>
                    <a:pt x="374523" y="482600"/>
                    <a:pt x="241300" y="482600"/>
                  </a:cubicBezTo>
                  <a:lnTo>
                    <a:pt x="241300" y="469900"/>
                  </a:lnTo>
                  <a:lnTo>
                    <a:pt x="241300" y="482600"/>
                  </a:lnTo>
                  <a:cubicBezTo>
                    <a:pt x="108077" y="482600"/>
                    <a:pt x="0" y="374523"/>
                    <a:pt x="0" y="241300"/>
                  </a:cubicBezTo>
                  <a:lnTo>
                    <a:pt x="12700" y="241300"/>
                  </a:lnTo>
                  <a:lnTo>
                    <a:pt x="25400" y="241300"/>
                  </a:lnTo>
                  <a:lnTo>
                    <a:pt x="12700" y="241300"/>
                  </a:lnTo>
                  <a:lnTo>
                    <a:pt x="0" y="241300"/>
                  </a:lnTo>
                  <a:moveTo>
                    <a:pt x="25400" y="241300"/>
                  </a:moveTo>
                  <a:cubicBezTo>
                    <a:pt x="25400" y="248285"/>
                    <a:pt x="19685" y="254000"/>
                    <a:pt x="12700" y="254000"/>
                  </a:cubicBezTo>
                  <a:cubicBezTo>
                    <a:pt x="5715" y="254000"/>
                    <a:pt x="0" y="248285"/>
                    <a:pt x="0" y="241300"/>
                  </a:cubicBezTo>
                  <a:cubicBezTo>
                    <a:pt x="0" y="234315"/>
                    <a:pt x="5715" y="228600"/>
                    <a:pt x="12700" y="228600"/>
                  </a:cubicBezTo>
                  <a:cubicBezTo>
                    <a:pt x="19685" y="228600"/>
                    <a:pt x="25400" y="234315"/>
                    <a:pt x="25400" y="241300"/>
                  </a:cubicBezTo>
                  <a:cubicBezTo>
                    <a:pt x="25400" y="360553"/>
                    <a:pt x="122047" y="457200"/>
                    <a:pt x="241300" y="457200"/>
                  </a:cubicBezTo>
                  <a:cubicBezTo>
                    <a:pt x="360553" y="457200"/>
                    <a:pt x="457200" y="360553"/>
                    <a:pt x="457200" y="241300"/>
                  </a:cubicBezTo>
                  <a:cubicBezTo>
                    <a:pt x="457200" y="122047"/>
                    <a:pt x="360553" y="25400"/>
                    <a:pt x="241300" y="25400"/>
                  </a:cubicBezTo>
                  <a:lnTo>
                    <a:pt x="241300" y="12700"/>
                  </a:lnTo>
                  <a:lnTo>
                    <a:pt x="241300" y="25400"/>
                  </a:lnTo>
                  <a:cubicBezTo>
                    <a:pt x="122047" y="25400"/>
                    <a:pt x="25400" y="122047"/>
                    <a:pt x="25400" y="24130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645920" y="8298180"/>
            <a:ext cx="1234440" cy="480060"/>
            <a:chOff x="0" y="0"/>
            <a:chExt cx="1645920" cy="6400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645920" cy="640080"/>
            </a:xfrm>
            <a:custGeom>
              <a:avLst/>
              <a:gdLst/>
              <a:ahLst/>
              <a:cxnLst/>
              <a:rect r="r" b="b" t="t" l="l"/>
              <a:pathLst>
                <a:path h="64008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64592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B1F3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1997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948940" y="8298180"/>
            <a:ext cx="5486400" cy="480060"/>
            <a:chOff x="0" y="0"/>
            <a:chExt cx="7315200" cy="6400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31520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73152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RIPng (IPv6) — RFC 2080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322118" y="2326958"/>
            <a:ext cx="8239125" cy="1175385"/>
            <a:chOff x="0" y="0"/>
            <a:chExt cx="10985500" cy="15671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6350" y="6350"/>
              <a:ext cx="10972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985500" cy="1567180"/>
            </a:xfrm>
            <a:custGeom>
              <a:avLst/>
              <a:gdLst/>
              <a:ahLst/>
              <a:cxnLst/>
              <a:rect r="r" b="b" t="t" l="l"/>
              <a:pathLst>
                <a:path h="1567180" w="10985500">
                  <a:moveTo>
                    <a:pt x="6350" y="0"/>
                  </a:moveTo>
                  <a:lnTo>
                    <a:pt x="10979150" y="0"/>
                  </a:lnTo>
                  <a:cubicBezTo>
                    <a:pt x="10982706" y="0"/>
                    <a:pt x="10985500" y="2794"/>
                    <a:pt x="10985500" y="6350"/>
                  </a:cubicBezTo>
                  <a:lnTo>
                    <a:pt x="10985500" y="1560830"/>
                  </a:lnTo>
                  <a:cubicBezTo>
                    <a:pt x="10985500" y="1564386"/>
                    <a:pt x="10982706" y="1567180"/>
                    <a:pt x="10979150" y="1567180"/>
                  </a:cubicBezTo>
                  <a:lnTo>
                    <a:pt x="6350" y="1567180"/>
                  </a:lnTo>
                  <a:cubicBezTo>
                    <a:pt x="2794" y="1567180"/>
                    <a:pt x="0" y="1564386"/>
                    <a:pt x="0" y="156083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560830"/>
                  </a:lnTo>
                  <a:lnTo>
                    <a:pt x="6350" y="1560830"/>
                  </a:lnTo>
                  <a:lnTo>
                    <a:pt x="6350" y="1554480"/>
                  </a:lnTo>
                  <a:lnTo>
                    <a:pt x="10979150" y="1554480"/>
                  </a:lnTo>
                  <a:lnTo>
                    <a:pt x="10979150" y="1560830"/>
                  </a:lnTo>
                  <a:lnTo>
                    <a:pt x="10972800" y="1560830"/>
                  </a:lnTo>
                  <a:lnTo>
                    <a:pt x="10972800" y="6350"/>
                  </a:lnTo>
                  <a:lnTo>
                    <a:pt x="10979150" y="6350"/>
                  </a:lnTo>
                  <a:lnTo>
                    <a:pt x="1097915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601200" y="2633472"/>
            <a:ext cx="548640" cy="548640"/>
            <a:chOff x="0" y="0"/>
            <a:chExt cx="731520" cy="731520"/>
          </a:xfrm>
        </p:grpSpPr>
        <p:sp>
          <p:nvSpPr>
            <p:cNvPr name="Freeform 60" id="60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0355580" y="2468880"/>
            <a:ext cx="6858000" cy="411480"/>
            <a:chOff x="0" y="0"/>
            <a:chExt cx="9144000" cy="5486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300">
                  <a:solidFill>
                    <a:srgbClr val="1C7293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Couche OSI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355580" y="2880360"/>
            <a:ext cx="7132320" cy="548640"/>
            <a:chOff x="0" y="0"/>
            <a:chExt cx="9509760" cy="7315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Couche 3 (Réseau)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322118" y="3725990"/>
            <a:ext cx="8239125" cy="1175385"/>
            <a:chOff x="0" y="0"/>
            <a:chExt cx="10985500" cy="15671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6350" y="6350"/>
              <a:ext cx="10972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985500" cy="1567180"/>
            </a:xfrm>
            <a:custGeom>
              <a:avLst/>
              <a:gdLst/>
              <a:ahLst/>
              <a:cxnLst/>
              <a:rect r="r" b="b" t="t" l="l"/>
              <a:pathLst>
                <a:path h="1567180" w="10985500">
                  <a:moveTo>
                    <a:pt x="6350" y="0"/>
                  </a:moveTo>
                  <a:lnTo>
                    <a:pt x="10979150" y="0"/>
                  </a:lnTo>
                  <a:cubicBezTo>
                    <a:pt x="10982706" y="0"/>
                    <a:pt x="10985500" y="2794"/>
                    <a:pt x="10985500" y="6350"/>
                  </a:cubicBezTo>
                  <a:lnTo>
                    <a:pt x="10985500" y="1560830"/>
                  </a:lnTo>
                  <a:cubicBezTo>
                    <a:pt x="10985500" y="1564386"/>
                    <a:pt x="10982706" y="1567180"/>
                    <a:pt x="10979150" y="1567180"/>
                  </a:cubicBezTo>
                  <a:lnTo>
                    <a:pt x="6350" y="1567180"/>
                  </a:lnTo>
                  <a:cubicBezTo>
                    <a:pt x="2794" y="1567180"/>
                    <a:pt x="0" y="1564386"/>
                    <a:pt x="0" y="156083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560830"/>
                  </a:lnTo>
                  <a:lnTo>
                    <a:pt x="6350" y="1560830"/>
                  </a:lnTo>
                  <a:lnTo>
                    <a:pt x="6350" y="1554480"/>
                  </a:lnTo>
                  <a:lnTo>
                    <a:pt x="10979150" y="1554480"/>
                  </a:lnTo>
                  <a:lnTo>
                    <a:pt x="10979150" y="1560830"/>
                  </a:lnTo>
                  <a:lnTo>
                    <a:pt x="10972800" y="1560830"/>
                  </a:lnTo>
                  <a:lnTo>
                    <a:pt x="10972800" y="6350"/>
                  </a:lnTo>
                  <a:lnTo>
                    <a:pt x="10979150" y="6350"/>
                  </a:lnTo>
                  <a:lnTo>
                    <a:pt x="1097915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601200" y="4032504"/>
            <a:ext cx="548640" cy="548640"/>
            <a:chOff x="0" y="0"/>
            <a:chExt cx="731520" cy="731520"/>
          </a:xfrm>
        </p:grpSpPr>
        <p:sp>
          <p:nvSpPr>
            <p:cNvPr name="Freeform 71" id="71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0355580" y="3867912"/>
            <a:ext cx="6858000" cy="411480"/>
            <a:chOff x="0" y="0"/>
            <a:chExt cx="9144000" cy="5486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300">
                  <a:solidFill>
                    <a:srgbClr val="1C7293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Transport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355580" y="4279392"/>
            <a:ext cx="7132320" cy="548640"/>
            <a:chOff x="0" y="0"/>
            <a:chExt cx="9509760" cy="7315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UDP — port 520 (RIPv2)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322118" y="5125021"/>
            <a:ext cx="8239125" cy="1175385"/>
            <a:chOff x="0" y="0"/>
            <a:chExt cx="10985500" cy="15671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6350" y="6350"/>
              <a:ext cx="10972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985500" cy="1567180"/>
            </a:xfrm>
            <a:custGeom>
              <a:avLst/>
              <a:gdLst/>
              <a:ahLst/>
              <a:cxnLst/>
              <a:rect r="r" b="b" t="t" l="l"/>
              <a:pathLst>
                <a:path h="1567180" w="10985500">
                  <a:moveTo>
                    <a:pt x="6350" y="0"/>
                  </a:moveTo>
                  <a:lnTo>
                    <a:pt x="10979150" y="0"/>
                  </a:lnTo>
                  <a:cubicBezTo>
                    <a:pt x="10982706" y="0"/>
                    <a:pt x="10985500" y="2794"/>
                    <a:pt x="10985500" y="6350"/>
                  </a:cubicBezTo>
                  <a:lnTo>
                    <a:pt x="10985500" y="1560830"/>
                  </a:lnTo>
                  <a:cubicBezTo>
                    <a:pt x="10985500" y="1564386"/>
                    <a:pt x="10982706" y="1567180"/>
                    <a:pt x="10979150" y="1567180"/>
                  </a:cubicBezTo>
                  <a:lnTo>
                    <a:pt x="6350" y="1567180"/>
                  </a:lnTo>
                  <a:cubicBezTo>
                    <a:pt x="2794" y="1567180"/>
                    <a:pt x="0" y="1564386"/>
                    <a:pt x="0" y="156083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560830"/>
                  </a:lnTo>
                  <a:lnTo>
                    <a:pt x="6350" y="1560830"/>
                  </a:lnTo>
                  <a:lnTo>
                    <a:pt x="6350" y="1554480"/>
                  </a:lnTo>
                  <a:lnTo>
                    <a:pt x="10979150" y="1554480"/>
                  </a:lnTo>
                  <a:lnTo>
                    <a:pt x="10979150" y="1560830"/>
                  </a:lnTo>
                  <a:lnTo>
                    <a:pt x="10972800" y="1560830"/>
                  </a:lnTo>
                  <a:lnTo>
                    <a:pt x="10972800" y="6350"/>
                  </a:lnTo>
                  <a:lnTo>
                    <a:pt x="10979150" y="6350"/>
                  </a:lnTo>
                  <a:lnTo>
                    <a:pt x="1097915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9601200" y="5431536"/>
            <a:ext cx="548640" cy="548640"/>
            <a:chOff x="0" y="0"/>
            <a:chExt cx="731520" cy="731520"/>
          </a:xfrm>
        </p:grpSpPr>
        <p:sp>
          <p:nvSpPr>
            <p:cNvPr name="Freeform 82" id="82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0355580" y="5266944"/>
            <a:ext cx="6858000" cy="411480"/>
            <a:chOff x="0" y="0"/>
            <a:chExt cx="9144000" cy="5486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300">
                  <a:solidFill>
                    <a:srgbClr val="1C7293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Métrique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0355580" y="5678424"/>
            <a:ext cx="7132320" cy="548640"/>
            <a:chOff x="0" y="0"/>
            <a:chExt cx="9509760" cy="7315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Nombre de sauts (max 15)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322118" y="6524054"/>
            <a:ext cx="8239125" cy="1175385"/>
            <a:chOff x="0" y="0"/>
            <a:chExt cx="10985500" cy="15671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6350" y="6350"/>
              <a:ext cx="10972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985500" cy="1567180"/>
            </a:xfrm>
            <a:custGeom>
              <a:avLst/>
              <a:gdLst/>
              <a:ahLst/>
              <a:cxnLst/>
              <a:rect r="r" b="b" t="t" l="l"/>
              <a:pathLst>
                <a:path h="1567180" w="10985500">
                  <a:moveTo>
                    <a:pt x="6350" y="0"/>
                  </a:moveTo>
                  <a:lnTo>
                    <a:pt x="10979150" y="0"/>
                  </a:lnTo>
                  <a:cubicBezTo>
                    <a:pt x="10982706" y="0"/>
                    <a:pt x="10985500" y="2794"/>
                    <a:pt x="10985500" y="6350"/>
                  </a:cubicBezTo>
                  <a:lnTo>
                    <a:pt x="10985500" y="1560830"/>
                  </a:lnTo>
                  <a:cubicBezTo>
                    <a:pt x="10985500" y="1564386"/>
                    <a:pt x="10982706" y="1567180"/>
                    <a:pt x="10979150" y="1567180"/>
                  </a:cubicBezTo>
                  <a:lnTo>
                    <a:pt x="6350" y="1567180"/>
                  </a:lnTo>
                  <a:cubicBezTo>
                    <a:pt x="2794" y="1567180"/>
                    <a:pt x="0" y="1564386"/>
                    <a:pt x="0" y="156083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560830"/>
                  </a:lnTo>
                  <a:lnTo>
                    <a:pt x="6350" y="1560830"/>
                  </a:lnTo>
                  <a:lnTo>
                    <a:pt x="6350" y="1554480"/>
                  </a:lnTo>
                  <a:lnTo>
                    <a:pt x="10979150" y="1554480"/>
                  </a:lnTo>
                  <a:lnTo>
                    <a:pt x="10979150" y="1560830"/>
                  </a:lnTo>
                  <a:lnTo>
                    <a:pt x="10972800" y="1560830"/>
                  </a:lnTo>
                  <a:lnTo>
                    <a:pt x="10972800" y="6350"/>
                  </a:lnTo>
                  <a:lnTo>
                    <a:pt x="10979150" y="6350"/>
                  </a:lnTo>
                  <a:lnTo>
                    <a:pt x="1097915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601200" y="6830568"/>
            <a:ext cx="548640" cy="548640"/>
            <a:chOff x="0" y="0"/>
            <a:chExt cx="731520" cy="731520"/>
          </a:xfrm>
        </p:grpSpPr>
        <p:sp>
          <p:nvSpPr>
            <p:cNvPr name="Freeform 93" id="93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0355580" y="6665976"/>
            <a:ext cx="6858000" cy="411480"/>
            <a:chOff x="0" y="0"/>
            <a:chExt cx="9144000" cy="54864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300">
                  <a:solidFill>
                    <a:srgbClr val="1C7293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Mises à jour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0355580" y="7077456"/>
            <a:ext cx="7132320" cy="548640"/>
            <a:chOff x="0" y="0"/>
            <a:chExt cx="9509760" cy="73152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Toutes les 30 secondes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9322118" y="7923086"/>
            <a:ext cx="8239125" cy="1175385"/>
            <a:chOff x="0" y="0"/>
            <a:chExt cx="10985500" cy="156718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6350" y="6350"/>
              <a:ext cx="10972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0985500" cy="1567180"/>
            </a:xfrm>
            <a:custGeom>
              <a:avLst/>
              <a:gdLst/>
              <a:ahLst/>
              <a:cxnLst/>
              <a:rect r="r" b="b" t="t" l="l"/>
              <a:pathLst>
                <a:path h="1567180" w="10985500">
                  <a:moveTo>
                    <a:pt x="6350" y="0"/>
                  </a:moveTo>
                  <a:lnTo>
                    <a:pt x="10979150" y="0"/>
                  </a:lnTo>
                  <a:cubicBezTo>
                    <a:pt x="10982706" y="0"/>
                    <a:pt x="10985500" y="2794"/>
                    <a:pt x="10985500" y="6350"/>
                  </a:cubicBezTo>
                  <a:lnTo>
                    <a:pt x="10985500" y="1560830"/>
                  </a:lnTo>
                  <a:cubicBezTo>
                    <a:pt x="10985500" y="1564386"/>
                    <a:pt x="10982706" y="1567180"/>
                    <a:pt x="10979150" y="1567180"/>
                  </a:cubicBezTo>
                  <a:lnTo>
                    <a:pt x="6350" y="1567180"/>
                  </a:lnTo>
                  <a:cubicBezTo>
                    <a:pt x="2794" y="1567180"/>
                    <a:pt x="0" y="1564386"/>
                    <a:pt x="0" y="156083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560830"/>
                  </a:lnTo>
                  <a:lnTo>
                    <a:pt x="6350" y="1560830"/>
                  </a:lnTo>
                  <a:lnTo>
                    <a:pt x="6350" y="1554480"/>
                  </a:lnTo>
                  <a:lnTo>
                    <a:pt x="10979150" y="1554480"/>
                  </a:lnTo>
                  <a:lnTo>
                    <a:pt x="10979150" y="1560830"/>
                  </a:lnTo>
                  <a:lnTo>
                    <a:pt x="10972800" y="1560830"/>
                  </a:lnTo>
                  <a:lnTo>
                    <a:pt x="10972800" y="6350"/>
                  </a:lnTo>
                  <a:lnTo>
                    <a:pt x="10979150" y="6350"/>
                  </a:lnTo>
                  <a:lnTo>
                    <a:pt x="1097915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9601200" y="8229600"/>
            <a:ext cx="548640" cy="548640"/>
            <a:chOff x="0" y="0"/>
            <a:chExt cx="731520" cy="731520"/>
          </a:xfrm>
        </p:grpSpPr>
        <p:sp>
          <p:nvSpPr>
            <p:cNvPr name="Freeform 104" id="104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0355580" y="8065008"/>
            <a:ext cx="6858000" cy="411480"/>
            <a:chOff x="0" y="0"/>
            <a:chExt cx="9144000" cy="54864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300">
                  <a:solidFill>
                    <a:srgbClr val="1C7293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Diffusion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0355580" y="8476488"/>
            <a:ext cx="7132320" cy="548640"/>
            <a:chOff x="0" y="0"/>
            <a:chExt cx="9509760" cy="73152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Broadcast (v1) / Multicast 224.0.0.9 (v2)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678656" y="9662636"/>
            <a:ext cx="16884968" cy="14288"/>
            <a:chOff x="0" y="0"/>
            <a:chExt cx="22513290" cy="1905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9525" y="0"/>
              <a:ext cx="22494239" cy="19050"/>
            </a:xfrm>
            <a:custGeom>
              <a:avLst/>
              <a:gdLst/>
              <a:ahLst/>
              <a:cxnLst/>
              <a:rect r="r" b="b" t="t" l="l"/>
              <a:pathLst>
                <a:path h="1905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685800" y="9738360"/>
            <a:ext cx="10972800" cy="411480"/>
            <a:chOff x="0" y="0"/>
            <a:chExt cx="14630400" cy="54864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RIP — Routing Information Protocol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6184880" y="9738360"/>
            <a:ext cx="1371600" cy="411480"/>
            <a:chOff x="0" y="0"/>
            <a:chExt cx="1828800" cy="54864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/ 12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80060"/>
            <a:ext cx="16870680" cy="822960"/>
            <a:chOff x="0" y="0"/>
            <a:chExt cx="2249424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942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4942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1F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Principe : algorithme à vecteur de distance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1303020"/>
            <a:ext cx="16870680" cy="480060"/>
            <a:chOff x="0" y="0"/>
            <a:chExt cx="22494240" cy="640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94239" cy="640080"/>
            </a:xfrm>
            <a:custGeom>
              <a:avLst/>
              <a:gdLst/>
              <a:ahLst/>
              <a:cxnLst/>
              <a:rect r="r" b="b" t="t" l="l"/>
              <a:pathLst>
                <a:path h="6400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4759" r="0" b="-63475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24942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1C729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Bellman-Ford appliqué au routage IP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76275" y="1910715"/>
            <a:ext cx="704850" cy="101346"/>
            <a:chOff x="0" y="0"/>
            <a:chExt cx="939800" cy="135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" y="12700"/>
              <a:ext cx="914400" cy="109728"/>
            </a:xfrm>
            <a:custGeom>
              <a:avLst/>
              <a:gdLst/>
              <a:ahLst/>
              <a:cxnLst/>
              <a:rect r="r" b="b" t="t" l="l"/>
              <a:pathLst>
                <a:path h="109728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9800" cy="135128"/>
            </a:xfrm>
            <a:custGeom>
              <a:avLst/>
              <a:gdLst/>
              <a:ahLst/>
              <a:cxnLst/>
              <a:rect r="r" b="b" t="t" l="l"/>
              <a:pathLst>
                <a:path h="135128" w="939800">
                  <a:moveTo>
                    <a:pt x="12700" y="0"/>
                  </a:moveTo>
                  <a:lnTo>
                    <a:pt x="927100" y="0"/>
                  </a:lnTo>
                  <a:cubicBezTo>
                    <a:pt x="934085" y="0"/>
                    <a:pt x="939800" y="5715"/>
                    <a:pt x="939800" y="12700"/>
                  </a:cubicBezTo>
                  <a:lnTo>
                    <a:pt x="939800" y="122428"/>
                  </a:lnTo>
                  <a:cubicBezTo>
                    <a:pt x="939800" y="129413"/>
                    <a:pt x="934085" y="135128"/>
                    <a:pt x="927100" y="135128"/>
                  </a:cubicBezTo>
                  <a:lnTo>
                    <a:pt x="12700" y="135128"/>
                  </a:lnTo>
                  <a:cubicBezTo>
                    <a:pt x="5715" y="135128"/>
                    <a:pt x="0" y="129413"/>
                    <a:pt x="0" y="12242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2428"/>
                  </a:lnTo>
                  <a:lnTo>
                    <a:pt x="12700" y="122428"/>
                  </a:lnTo>
                  <a:lnTo>
                    <a:pt x="12700" y="109728"/>
                  </a:lnTo>
                  <a:lnTo>
                    <a:pt x="927100" y="109728"/>
                  </a:lnTo>
                  <a:lnTo>
                    <a:pt x="927100" y="122428"/>
                  </a:lnTo>
                  <a:lnTo>
                    <a:pt x="914400" y="122428"/>
                  </a:lnTo>
                  <a:lnTo>
                    <a:pt x="914400" y="12700"/>
                  </a:lnTo>
                  <a:lnTo>
                    <a:pt x="927100" y="12700"/>
                  </a:lnTo>
                  <a:lnTo>
                    <a:pt x="9271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26870" y="3135630"/>
            <a:ext cx="1409700" cy="1409700"/>
            <a:chOff x="0" y="0"/>
            <a:chExt cx="1879600" cy="187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5400" y="2540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79600" cy="1879600"/>
            </a:xfrm>
            <a:custGeom>
              <a:avLst/>
              <a:gdLst/>
              <a:ahLst/>
              <a:cxnLst/>
              <a:rect r="r" b="b" t="t" l="l"/>
              <a:pathLst>
                <a:path h="1879600" w="1879600">
                  <a:moveTo>
                    <a:pt x="0" y="939800"/>
                  </a:moveTo>
                  <a:cubicBezTo>
                    <a:pt x="0" y="420751"/>
                    <a:pt x="420751" y="0"/>
                    <a:pt x="939800" y="0"/>
                  </a:cubicBezTo>
                  <a:lnTo>
                    <a:pt x="939800" y="25400"/>
                  </a:lnTo>
                  <a:lnTo>
                    <a:pt x="939800" y="0"/>
                  </a:lnTo>
                  <a:cubicBezTo>
                    <a:pt x="1458849" y="0"/>
                    <a:pt x="1879600" y="420751"/>
                    <a:pt x="1879600" y="939800"/>
                  </a:cubicBezTo>
                  <a:lnTo>
                    <a:pt x="1854200" y="939800"/>
                  </a:lnTo>
                  <a:lnTo>
                    <a:pt x="1879600" y="939800"/>
                  </a:lnTo>
                  <a:cubicBezTo>
                    <a:pt x="1879600" y="1458849"/>
                    <a:pt x="1458849" y="1879600"/>
                    <a:pt x="939800" y="1879600"/>
                  </a:cubicBezTo>
                  <a:lnTo>
                    <a:pt x="939800" y="1854200"/>
                  </a:lnTo>
                  <a:lnTo>
                    <a:pt x="939800" y="1879600"/>
                  </a:lnTo>
                  <a:cubicBezTo>
                    <a:pt x="420751" y="1879600"/>
                    <a:pt x="0" y="1458849"/>
                    <a:pt x="0" y="939800"/>
                  </a:cubicBezTo>
                  <a:lnTo>
                    <a:pt x="25400" y="939800"/>
                  </a:lnTo>
                  <a:lnTo>
                    <a:pt x="46990" y="953262"/>
                  </a:lnTo>
                  <a:cubicBezTo>
                    <a:pt x="41021" y="962914"/>
                    <a:pt x="29337" y="967359"/>
                    <a:pt x="18415" y="964184"/>
                  </a:cubicBezTo>
                  <a:cubicBezTo>
                    <a:pt x="7493" y="961009"/>
                    <a:pt x="0" y="951103"/>
                    <a:pt x="0" y="939800"/>
                  </a:cubicBezTo>
                  <a:moveTo>
                    <a:pt x="50800" y="939800"/>
                  </a:moveTo>
                  <a:lnTo>
                    <a:pt x="25400" y="939800"/>
                  </a:lnTo>
                  <a:lnTo>
                    <a:pt x="3810" y="926338"/>
                  </a:lnTo>
                  <a:cubicBezTo>
                    <a:pt x="9779" y="916686"/>
                    <a:pt x="21463" y="912241"/>
                    <a:pt x="32385" y="915416"/>
                  </a:cubicBezTo>
                  <a:cubicBezTo>
                    <a:pt x="43307" y="918591"/>
                    <a:pt x="50800" y="928497"/>
                    <a:pt x="50800" y="939800"/>
                  </a:cubicBezTo>
                  <a:cubicBezTo>
                    <a:pt x="50800" y="1430782"/>
                    <a:pt x="448818" y="1828800"/>
                    <a:pt x="939800" y="1828800"/>
                  </a:cubicBezTo>
                  <a:cubicBezTo>
                    <a:pt x="1430782" y="1828800"/>
                    <a:pt x="1828800" y="1430782"/>
                    <a:pt x="1828800" y="939800"/>
                  </a:cubicBezTo>
                  <a:cubicBezTo>
                    <a:pt x="1828800" y="448818"/>
                    <a:pt x="1430782" y="50800"/>
                    <a:pt x="939800" y="50800"/>
                  </a:cubicBezTo>
                  <a:lnTo>
                    <a:pt x="939800" y="25400"/>
                  </a:lnTo>
                  <a:lnTo>
                    <a:pt x="939800" y="50800"/>
                  </a:lnTo>
                  <a:cubicBezTo>
                    <a:pt x="448818" y="50800"/>
                    <a:pt x="50800" y="448818"/>
                    <a:pt x="50800" y="93980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5920" y="3154680"/>
            <a:ext cx="1371600" cy="1371600"/>
            <a:chOff x="0" y="0"/>
            <a:chExt cx="1828800" cy="1828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82880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290310" y="3135630"/>
            <a:ext cx="1409700" cy="1409700"/>
            <a:chOff x="0" y="0"/>
            <a:chExt cx="1879600" cy="1879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25400" y="2540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79600" cy="1879600"/>
            </a:xfrm>
            <a:custGeom>
              <a:avLst/>
              <a:gdLst/>
              <a:ahLst/>
              <a:cxnLst/>
              <a:rect r="r" b="b" t="t" l="l"/>
              <a:pathLst>
                <a:path h="1879600" w="1879600">
                  <a:moveTo>
                    <a:pt x="0" y="939800"/>
                  </a:moveTo>
                  <a:cubicBezTo>
                    <a:pt x="0" y="420751"/>
                    <a:pt x="420751" y="0"/>
                    <a:pt x="939800" y="0"/>
                  </a:cubicBezTo>
                  <a:lnTo>
                    <a:pt x="939800" y="25400"/>
                  </a:lnTo>
                  <a:lnTo>
                    <a:pt x="939800" y="0"/>
                  </a:lnTo>
                  <a:cubicBezTo>
                    <a:pt x="1458849" y="0"/>
                    <a:pt x="1879600" y="420751"/>
                    <a:pt x="1879600" y="939800"/>
                  </a:cubicBezTo>
                  <a:lnTo>
                    <a:pt x="1854200" y="939800"/>
                  </a:lnTo>
                  <a:lnTo>
                    <a:pt x="1879600" y="939800"/>
                  </a:lnTo>
                  <a:cubicBezTo>
                    <a:pt x="1879600" y="1458849"/>
                    <a:pt x="1458849" y="1879600"/>
                    <a:pt x="939800" y="1879600"/>
                  </a:cubicBezTo>
                  <a:lnTo>
                    <a:pt x="939800" y="1854200"/>
                  </a:lnTo>
                  <a:lnTo>
                    <a:pt x="939800" y="1879600"/>
                  </a:lnTo>
                  <a:cubicBezTo>
                    <a:pt x="420751" y="1879600"/>
                    <a:pt x="0" y="1458849"/>
                    <a:pt x="0" y="939800"/>
                  </a:cubicBezTo>
                  <a:lnTo>
                    <a:pt x="25400" y="939800"/>
                  </a:lnTo>
                  <a:lnTo>
                    <a:pt x="46990" y="953262"/>
                  </a:lnTo>
                  <a:cubicBezTo>
                    <a:pt x="41021" y="962914"/>
                    <a:pt x="29337" y="967359"/>
                    <a:pt x="18415" y="964184"/>
                  </a:cubicBezTo>
                  <a:cubicBezTo>
                    <a:pt x="7493" y="961009"/>
                    <a:pt x="0" y="951103"/>
                    <a:pt x="0" y="939800"/>
                  </a:cubicBezTo>
                  <a:moveTo>
                    <a:pt x="50800" y="939800"/>
                  </a:moveTo>
                  <a:lnTo>
                    <a:pt x="25400" y="939800"/>
                  </a:lnTo>
                  <a:lnTo>
                    <a:pt x="3810" y="926338"/>
                  </a:lnTo>
                  <a:cubicBezTo>
                    <a:pt x="9779" y="916686"/>
                    <a:pt x="21463" y="912241"/>
                    <a:pt x="32385" y="915416"/>
                  </a:cubicBezTo>
                  <a:cubicBezTo>
                    <a:pt x="43307" y="918591"/>
                    <a:pt x="50800" y="928497"/>
                    <a:pt x="50800" y="939800"/>
                  </a:cubicBezTo>
                  <a:cubicBezTo>
                    <a:pt x="50800" y="1430782"/>
                    <a:pt x="448818" y="1828800"/>
                    <a:pt x="939800" y="1828800"/>
                  </a:cubicBezTo>
                  <a:cubicBezTo>
                    <a:pt x="1430782" y="1828800"/>
                    <a:pt x="1828800" y="1430782"/>
                    <a:pt x="1828800" y="939800"/>
                  </a:cubicBezTo>
                  <a:cubicBezTo>
                    <a:pt x="1828800" y="448818"/>
                    <a:pt x="1430782" y="50800"/>
                    <a:pt x="939800" y="50800"/>
                  </a:cubicBezTo>
                  <a:lnTo>
                    <a:pt x="939800" y="25400"/>
                  </a:lnTo>
                  <a:lnTo>
                    <a:pt x="939800" y="50800"/>
                  </a:lnTo>
                  <a:cubicBezTo>
                    <a:pt x="448818" y="50800"/>
                    <a:pt x="50800" y="448818"/>
                    <a:pt x="50800" y="93980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309360" y="3154680"/>
            <a:ext cx="1371600" cy="1371600"/>
            <a:chOff x="0" y="0"/>
            <a:chExt cx="1828800" cy="1828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82880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953750" y="3135630"/>
            <a:ext cx="1409700" cy="1409700"/>
            <a:chOff x="0" y="0"/>
            <a:chExt cx="1879600" cy="1879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25400" y="2540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79600" cy="1879600"/>
            </a:xfrm>
            <a:custGeom>
              <a:avLst/>
              <a:gdLst/>
              <a:ahLst/>
              <a:cxnLst/>
              <a:rect r="r" b="b" t="t" l="l"/>
              <a:pathLst>
                <a:path h="1879600" w="1879600">
                  <a:moveTo>
                    <a:pt x="0" y="939800"/>
                  </a:moveTo>
                  <a:cubicBezTo>
                    <a:pt x="0" y="420751"/>
                    <a:pt x="420751" y="0"/>
                    <a:pt x="939800" y="0"/>
                  </a:cubicBezTo>
                  <a:lnTo>
                    <a:pt x="939800" y="25400"/>
                  </a:lnTo>
                  <a:lnTo>
                    <a:pt x="939800" y="0"/>
                  </a:lnTo>
                  <a:cubicBezTo>
                    <a:pt x="1458849" y="0"/>
                    <a:pt x="1879600" y="420751"/>
                    <a:pt x="1879600" y="939800"/>
                  </a:cubicBezTo>
                  <a:lnTo>
                    <a:pt x="1854200" y="939800"/>
                  </a:lnTo>
                  <a:lnTo>
                    <a:pt x="1879600" y="939800"/>
                  </a:lnTo>
                  <a:cubicBezTo>
                    <a:pt x="1879600" y="1458849"/>
                    <a:pt x="1458849" y="1879600"/>
                    <a:pt x="939800" y="1879600"/>
                  </a:cubicBezTo>
                  <a:lnTo>
                    <a:pt x="939800" y="1854200"/>
                  </a:lnTo>
                  <a:lnTo>
                    <a:pt x="939800" y="1879600"/>
                  </a:lnTo>
                  <a:cubicBezTo>
                    <a:pt x="420751" y="1879600"/>
                    <a:pt x="0" y="1458849"/>
                    <a:pt x="0" y="939800"/>
                  </a:cubicBezTo>
                  <a:lnTo>
                    <a:pt x="25400" y="939800"/>
                  </a:lnTo>
                  <a:lnTo>
                    <a:pt x="46990" y="953262"/>
                  </a:lnTo>
                  <a:cubicBezTo>
                    <a:pt x="41021" y="962914"/>
                    <a:pt x="29337" y="967359"/>
                    <a:pt x="18415" y="964184"/>
                  </a:cubicBezTo>
                  <a:cubicBezTo>
                    <a:pt x="7493" y="961009"/>
                    <a:pt x="0" y="951103"/>
                    <a:pt x="0" y="939800"/>
                  </a:cubicBezTo>
                  <a:moveTo>
                    <a:pt x="50800" y="939800"/>
                  </a:moveTo>
                  <a:lnTo>
                    <a:pt x="25400" y="939800"/>
                  </a:lnTo>
                  <a:lnTo>
                    <a:pt x="3810" y="926338"/>
                  </a:lnTo>
                  <a:cubicBezTo>
                    <a:pt x="9779" y="916686"/>
                    <a:pt x="21463" y="912241"/>
                    <a:pt x="32385" y="915416"/>
                  </a:cubicBezTo>
                  <a:cubicBezTo>
                    <a:pt x="43307" y="918591"/>
                    <a:pt x="50800" y="928497"/>
                    <a:pt x="50800" y="939800"/>
                  </a:cubicBezTo>
                  <a:cubicBezTo>
                    <a:pt x="50800" y="1430782"/>
                    <a:pt x="448818" y="1828800"/>
                    <a:pt x="939800" y="1828800"/>
                  </a:cubicBezTo>
                  <a:cubicBezTo>
                    <a:pt x="1430782" y="1828800"/>
                    <a:pt x="1828800" y="1430782"/>
                    <a:pt x="1828800" y="939800"/>
                  </a:cubicBezTo>
                  <a:cubicBezTo>
                    <a:pt x="1828800" y="448818"/>
                    <a:pt x="1430782" y="50800"/>
                    <a:pt x="939800" y="50800"/>
                  </a:cubicBezTo>
                  <a:lnTo>
                    <a:pt x="939800" y="25400"/>
                  </a:lnTo>
                  <a:lnTo>
                    <a:pt x="939800" y="50800"/>
                  </a:lnTo>
                  <a:cubicBezTo>
                    <a:pt x="448818" y="50800"/>
                    <a:pt x="50800" y="448818"/>
                    <a:pt x="50800" y="93980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972800" y="3154680"/>
            <a:ext cx="1371600" cy="1371600"/>
            <a:chOff x="0" y="0"/>
            <a:chExt cx="1828800" cy="1828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82880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R3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5078075" y="3350895"/>
            <a:ext cx="2350770" cy="979170"/>
            <a:chOff x="0" y="0"/>
            <a:chExt cx="3134360" cy="13055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2700" y="12700"/>
              <a:ext cx="31089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1343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3134360">
                  <a:moveTo>
                    <a:pt x="12700" y="0"/>
                  </a:moveTo>
                  <a:lnTo>
                    <a:pt x="3121660" y="0"/>
                  </a:lnTo>
                  <a:cubicBezTo>
                    <a:pt x="3128645" y="0"/>
                    <a:pt x="3134360" y="5715"/>
                    <a:pt x="3134360" y="12700"/>
                  </a:cubicBezTo>
                  <a:lnTo>
                    <a:pt x="3134360" y="1292860"/>
                  </a:lnTo>
                  <a:cubicBezTo>
                    <a:pt x="3134360" y="1299845"/>
                    <a:pt x="3128645" y="1305560"/>
                    <a:pt x="3121660" y="1305560"/>
                  </a:cubicBezTo>
                  <a:lnTo>
                    <a:pt x="12700" y="1305560"/>
                  </a:lnTo>
                  <a:cubicBezTo>
                    <a:pt x="5715" y="1305560"/>
                    <a:pt x="0" y="1299845"/>
                    <a:pt x="0" y="12928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92860"/>
                  </a:lnTo>
                  <a:lnTo>
                    <a:pt x="12700" y="1292860"/>
                  </a:lnTo>
                  <a:lnTo>
                    <a:pt x="12700" y="1280160"/>
                  </a:lnTo>
                  <a:lnTo>
                    <a:pt x="3121660" y="1280160"/>
                  </a:lnTo>
                  <a:lnTo>
                    <a:pt x="3121660" y="1292860"/>
                  </a:lnTo>
                  <a:lnTo>
                    <a:pt x="3108960" y="1292860"/>
                  </a:lnTo>
                  <a:lnTo>
                    <a:pt x="3108960" y="12700"/>
                  </a:lnTo>
                  <a:lnTo>
                    <a:pt x="3121660" y="12700"/>
                  </a:lnTo>
                  <a:lnTo>
                    <a:pt x="3121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5087600" y="3360420"/>
            <a:ext cx="2331720" cy="960120"/>
            <a:chOff x="0" y="0"/>
            <a:chExt cx="3108960" cy="12801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1089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30" t="0" r="-283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10896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1F3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10.0.0.0/24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998470" y="3821430"/>
            <a:ext cx="3329940" cy="38100"/>
            <a:chOff x="0" y="0"/>
            <a:chExt cx="4439920" cy="50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25400" y="0"/>
              <a:ext cx="4389120" cy="50800"/>
            </a:xfrm>
            <a:custGeom>
              <a:avLst/>
              <a:gdLst/>
              <a:ahLst/>
              <a:cxnLst/>
              <a:rect r="r" b="b" t="t" l="l"/>
              <a:pathLst>
                <a:path h="508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7661910" y="3821430"/>
            <a:ext cx="3329940" cy="38100"/>
            <a:chOff x="0" y="0"/>
            <a:chExt cx="4439920" cy="50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25400" y="0"/>
              <a:ext cx="4389120" cy="50800"/>
            </a:xfrm>
            <a:custGeom>
              <a:avLst/>
              <a:gdLst/>
              <a:ahLst/>
              <a:cxnLst/>
              <a:rect r="r" b="b" t="t" l="l"/>
              <a:pathLst>
                <a:path h="508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325350" y="3821430"/>
            <a:ext cx="2781300" cy="38100"/>
            <a:chOff x="0" y="0"/>
            <a:chExt cx="3708400" cy="50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25400" y="0"/>
              <a:ext cx="3657600" cy="50800"/>
            </a:xfrm>
            <a:custGeom>
              <a:avLst/>
              <a:gdLst/>
              <a:ahLst/>
              <a:cxnLst/>
              <a:rect r="r" b="b" t="t" l="l"/>
              <a:pathLst>
                <a:path h="508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3291840" y="3291840"/>
            <a:ext cx="2743200" cy="411480"/>
            <a:chOff x="0" y="0"/>
            <a:chExt cx="365760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3657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1C729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1 saut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955280" y="3291840"/>
            <a:ext cx="2743200" cy="411480"/>
            <a:chOff x="0" y="0"/>
            <a:chExt cx="365760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3657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1C729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2 sauts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344400" y="3291840"/>
            <a:ext cx="2743200" cy="411480"/>
            <a:chOff x="0" y="0"/>
            <a:chExt cx="3657600" cy="5486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3657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1C729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3 sauts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81038" y="5755958"/>
            <a:ext cx="5564505" cy="3575685"/>
            <a:chOff x="0" y="0"/>
            <a:chExt cx="7419340" cy="47675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6350" y="6350"/>
              <a:ext cx="740664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419340" cy="4767580"/>
            </a:xfrm>
            <a:custGeom>
              <a:avLst/>
              <a:gdLst/>
              <a:ahLst/>
              <a:cxnLst/>
              <a:rect r="r" b="b" t="t" l="l"/>
              <a:pathLst>
                <a:path h="4767580" w="7419340">
                  <a:moveTo>
                    <a:pt x="6350" y="0"/>
                  </a:moveTo>
                  <a:lnTo>
                    <a:pt x="7412990" y="0"/>
                  </a:lnTo>
                  <a:cubicBezTo>
                    <a:pt x="7416547" y="0"/>
                    <a:pt x="7419340" y="2794"/>
                    <a:pt x="7419340" y="6350"/>
                  </a:cubicBezTo>
                  <a:lnTo>
                    <a:pt x="7419340" y="4761230"/>
                  </a:lnTo>
                  <a:cubicBezTo>
                    <a:pt x="7419340" y="4764786"/>
                    <a:pt x="7416547" y="4767580"/>
                    <a:pt x="7412990" y="4767580"/>
                  </a:cubicBezTo>
                  <a:lnTo>
                    <a:pt x="6350" y="4767580"/>
                  </a:lnTo>
                  <a:cubicBezTo>
                    <a:pt x="2794" y="4767580"/>
                    <a:pt x="0" y="4764786"/>
                    <a:pt x="0" y="476123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4761230"/>
                  </a:lnTo>
                  <a:lnTo>
                    <a:pt x="6350" y="4761230"/>
                  </a:lnTo>
                  <a:lnTo>
                    <a:pt x="6350" y="4754880"/>
                  </a:lnTo>
                  <a:lnTo>
                    <a:pt x="7412990" y="4754880"/>
                  </a:lnTo>
                  <a:lnTo>
                    <a:pt x="7412990" y="4761230"/>
                  </a:lnTo>
                  <a:lnTo>
                    <a:pt x="7406640" y="4761230"/>
                  </a:lnTo>
                  <a:lnTo>
                    <a:pt x="7406640" y="6350"/>
                  </a:lnTo>
                  <a:lnTo>
                    <a:pt x="7412990" y="6350"/>
                  </a:lnTo>
                  <a:lnTo>
                    <a:pt x="741299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76275" y="5751195"/>
            <a:ext cx="5574030" cy="128778"/>
            <a:chOff x="0" y="0"/>
            <a:chExt cx="7432040" cy="17170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2700" y="12700"/>
              <a:ext cx="7406640" cy="146304"/>
            </a:xfrm>
            <a:custGeom>
              <a:avLst/>
              <a:gdLst/>
              <a:ahLst/>
              <a:cxnLst/>
              <a:rect r="r" b="b" t="t" l="l"/>
              <a:pathLst>
                <a:path h="1463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432040" cy="171704"/>
            </a:xfrm>
            <a:custGeom>
              <a:avLst/>
              <a:gdLst/>
              <a:ahLst/>
              <a:cxnLst/>
              <a:rect r="r" b="b" t="t" l="l"/>
              <a:pathLst>
                <a:path h="171704" w="7432040">
                  <a:moveTo>
                    <a:pt x="12700" y="0"/>
                  </a:moveTo>
                  <a:lnTo>
                    <a:pt x="7419340" y="0"/>
                  </a:lnTo>
                  <a:cubicBezTo>
                    <a:pt x="7426325" y="0"/>
                    <a:pt x="7432040" y="5715"/>
                    <a:pt x="7432040" y="12700"/>
                  </a:cubicBezTo>
                  <a:lnTo>
                    <a:pt x="7432040" y="159004"/>
                  </a:lnTo>
                  <a:cubicBezTo>
                    <a:pt x="7432040" y="165989"/>
                    <a:pt x="7426325" y="171704"/>
                    <a:pt x="7419340" y="171704"/>
                  </a:cubicBezTo>
                  <a:lnTo>
                    <a:pt x="12700" y="171704"/>
                  </a:lnTo>
                  <a:cubicBezTo>
                    <a:pt x="5715" y="171704"/>
                    <a:pt x="0" y="165989"/>
                    <a:pt x="0" y="15900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9004"/>
                  </a:lnTo>
                  <a:lnTo>
                    <a:pt x="12700" y="159004"/>
                  </a:lnTo>
                  <a:lnTo>
                    <a:pt x="12700" y="146304"/>
                  </a:lnTo>
                  <a:lnTo>
                    <a:pt x="7419340" y="146304"/>
                  </a:lnTo>
                  <a:lnTo>
                    <a:pt x="7419340" y="159004"/>
                  </a:lnTo>
                  <a:lnTo>
                    <a:pt x="7406640" y="159004"/>
                  </a:lnTo>
                  <a:lnTo>
                    <a:pt x="7406640" y="12700"/>
                  </a:lnTo>
                  <a:lnTo>
                    <a:pt x="7419340" y="12700"/>
                  </a:lnTo>
                  <a:lnTo>
                    <a:pt x="74193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60120" y="6035040"/>
            <a:ext cx="822960" cy="822960"/>
            <a:chOff x="0" y="0"/>
            <a:chExt cx="1097280" cy="10972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109728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2D3E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851660" y="6172200"/>
            <a:ext cx="4114800" cy="548640"/>
            <a:chOff x="0" y="0"/>
            <a:chExt cx="548640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54864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B1F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Vecteur de distance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60120" y="7063740"/>
            <a:ext cx="5074920" cy="2194560"/>
            <a:chOff x="0" y="0"/>
            <a:chExt cx="6766560" cy="29260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7665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482" t="0" r="-5482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676656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Chaque routeur ne connaît pas la topologie complète : il maintient seulement la distance (en sauts) vers chaque destination et le voisin par lequel passer.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537770" y="5755958"/>
            <a:ext cx="5564505" cy="3575685"/>
            <a:chOff x="0" y="0"/>
            <a:chExt cx="7419340" cy="47675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6350" y="6350"/>
              <a:ext cx="740664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419340" cy="4767580"/>
            </a:xfrm>
            <a:custGeom>
              <a:avLst/>
              <a:gdLst/>
              <a:ahLst/>
              <a:cxnLst/>
              <a:rect r="r" b="b" t="t" l="l"/>
              <a:pathLst>
                <a:path h="4767580" w="7419340">
                  <a:moveTo>
                    <a:pt x="6350" y="0"/>
                  </a:moveTo>
                  <a:lnTo>
                    <a:pt x="7412990" y="0"/>
                  </a:lnTo>
                  <a:cubicBezTo>
                    <a:pt x="7416547" y="0"/>
                    <a:pt x="7419340" y="2794"/>
                    <a:pt x="7419340" y="6350"/>
                  </a:cubicBezTo>
                  <a:lnTo>
                    <a:pt x="7419340" y="4761230"/>
                  </a:lnTo>
                  <a:cubicBezTo>
                    <a:pt x="7419340" y="4764786"/>
                    <a:pt x="7416547" y="4767580"/>
                    <a:pt x="7412990" y="4767580"/>
                  </a:cubicBezTo>
                  <a:lnTo>
                    <a:pt x="6350" y="4767580"/>
                  </a:lnTo>
                  <a:cubicBezTo>
                    <a:pt x="2794" y="4767580"/>
                    <a:pt x="0" y="4764786"/>
                    <a:pt x="0" y="476123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4761230"/>
                  </a:lnTo>
                  <a:lnTo>
                    <a:pt x="6350" y="4761230"/>
                  </a:lnTo>
                  <a:lnTo>
                    <a:pt x="6350" y="4754880"/>
                  </a:lnTo>
                  <a:lnTo>
                    <a:pt x="7412990" y="4754880"/>
                  </a:lnTo>
                  <a:lnTo>
                    <a:pt x="7412990" y="4761230"/>
                  </a:lnTo>
                  <a:lnTo>
                    <a:pt x="7406640" y="4761230"/>
                  </a:lnTo>
                  <a:lnTo>
                    <a:pt x="7406640" y="6350"/>
                  </a:lnTo>
                  <a:lnTo>
                    <a:pt x="7412990" y="6350"/>
                  </a:lnTo>
                  <a:lnTo>
                    <a:pt x="741299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6533007" y="5751195"/>
            <a:ext cx="5574030" cy="128778"/>
            <a:chOff x="0" y="0"/>
            <a:chExt cx="7432040" cy="17170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2700" y="12700"/>
              <a:ext cx="7406640" cy="146304"/>
            </a:xfrm>
            <a:custGeom>
              <a:avLst/>
              <a:gdLst/>
              <a:ahLst/>
              <a:cxnLst/>
              <a:rect r="r" b="b" t="t" l="l"/>
              <a:pathLst>
                <a:path h="1463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432040" cy="171704"/>
            </a:xfrm>
            <a:custGeom>
              <a:avLst/>
              <a:gdLst/>
              <a:ahLst/>
              <a:cxnLst/>
              <a:rect r="r" b="b" t="t" l="l"/>
              <a:pathLst>
                <a:path h="171704" w="7432040">
                  <a:moveTo>
                    <a:pt x="12700" y="0"/>
                  </a:moveTo>
                  <a:lnTo>
                    <a:pt x="7419340" y="0"/>
                  </a:lnTo>
                  <a:cubicBezTo>
                    <a:pt x="7426325" y="0"/>
                    <a:pt x="7432040" y="5715"/>
                    <a:pt x="7432040" y="12700"/>
                  </a:cubicBezTo>
                  <a:lnTo>
                    <a:pt x="7432040" y="159004"/>
                  </a:lnTo>
                  <a:cubicBezTo>
                    <a:pt x="7432040" y="165989"/>
                    <a:pt x="7426325" y="171704"/>
                    <a:pt x="7419340" y="171704"/>
                  </a:cubicBezTo>
                  <a:lnTo>
                    <a:pt x="12700" y="171704"/>
                  </a:lnTo>
                  <a:cubicBezTo>
                    <a:pt x="5715" y="171704"/>
                    <a:pt x="0" y="165989"/>
                    <a:pt x="0" y="15900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9004"/>
                  </a:lnTo>
                  <a:lnTo>
                    <a:pt x="12700" y="159004"/>
                  </a:lnTo>
                  <a:lnTo>
                    <a:pt x="12700" y="146304"/>
                  </a:lnTo>
                  <a:lnTo>
                    <a:pt x="7419340" y="146304"/>
                  </a:lnTo>
                  <a:lnTo>
                    <a:pt x="7419340" y="159004"/>
                  </a:lnTo>
                  <a:lnTo>
                    <a:pt x="7406640" y="159004"/>
                  </a:lnTo>
                  <a:lnTo>
                    <a:pt x="7406640" y="12700"/>
                  </a:lnTo>
                  <a:lnTo>
                    <a:pt x="7419340" y="12700"/>
                  </a:lnTo>
                  <a:lnTo>
                    <a:pt x="74193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6816852" y="6035040"/>
            <a:ext cx="822960" cy="822960"/>
            <a:chOff x="0" y="0"/>
            <a:chExt cx="1097280" cy="10972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109728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2D3E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2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7708392" y="6172200"/>
            <a:ext cx="4114800" cy="548640"/>
            <a:chOff x="0" y="0"/>
            <a:chExt cx="5486400" cy="731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54864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B1F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Échange périodique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6816852" y="7063740"/>
            <a:ext cx="5074920" cy="2194560"/>
            <a:chOff x="0" y="0"/>
            <a:chExt cx="6766560" cy="29260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7665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482" t="0" r="-5482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676656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Tous les 30 secondes, chaque routeur diffuse à ses voisins l'intégralité de sa table de routage. Les voisins l'utilisent pour mettre à jour la leur.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394502" y="5755958"/>
            <a:ext cx="5564505" cy="3575685"/>
            <a:chOff x="0" y="0"/>
            <a:chExt cx="7419340" cy="47675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6350" y="6350"/>
              <a:ext cx="740664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419340" cy="4767580"/>
            </a:xfrm>
            <a:custGeom>
              <a:avLst/>
              <a:gdLst/>
              <a:ahLst/>
              <a:cxnLst/>
              <a:rect r="r" b="b" t="t" l="l"/>
              <a:pathLst>
                <a:path h="4767580" w="7419340">
                  <a:moveTo>
                    <a:pt x="6350" y="0"/>
                  </a:moveTo>
                  <a:lnTo>
                    <a:pt x="7412990" y="0"/>
                  </a:lnTo>
                  <a:cubicBezTo>
                    <a:pt x="7416547" y="0"/>
                    <a:pt x="7419340" y="2794"/>
                    <a:pt x="7419340" y="6350"/>
                  </a:cubicBezTo>
                  <a:lnTo>
                    <a:pt x="7419340" y="4761230"/>
                  </a:lnTo>
                  <a:cubicBezTo>
                    <a:pt x="7419340" y="4764786"/>
                    <a:pt x="7416547" y="4767580"/>
                    <a:pt x="7412990" y="4767580"/>
                  </a:cubicBezTo>
                  <a:lnTo>
                    <a:pt x="6350" y="4767580"/>
                  </a:lnTo>
                  <a:cubicBezTo>
                    <a:pt x="2794" y="4767580"/>
                    <a:pt x="0" y="4764786"/>
                    <a:pt x="0" y="476123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4761230"/>
                  </a:lnTo>
                  <a:lnTo>
                    <a:pt x="6350" y="4761230"/>
                  </a:lnTo>
                  <a:lnTo>
                    <a:pt x="6350" y="4754880"/>
                  </a:lnTo>
                  <a:lnTo>
                    <a:pt x="7412990" y="4754880"/>
                  </a:lnTo>
                  <a:lnTo>
                    <a:pt x="7412990" y="4761230"/>
                  </a:lnTo>
                  <a:lnTo>
                    <a:pt x="7406640" y="4761230"/>
                  </a:lnTo>
                  <a:lnTo>
                    <a:pt x="7406640" y="6350"/>
                  </a:lnTo>
                  <a:lnTo>
                    <a:pt x="7412990" y="6350"/>
                  </a:lnTo>
                  <a:lnTo>
                    <a:pt x="741299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2389739" y="5751195"/>
            <a:ext cx="5574030" cy="128778"/>
            <a:chOff x="0" y="0"/>
            <a:chExt cx="7432040" cy="17170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2700" y="12700"/>
              <a:ext cx="7406640" cy="146304"/>
            </a:xfrm>
            <a:custGeom>
              <a:avLst/>
              <a:gdLst/>
              <a:ahLst/>
              <a:cxnLst/>
              <a:rect r="r" b="b" t="t" l="l"/>
              <a:pathLst>
                <a:path h="1463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432040" cy="171704"/>
            </a:xfrm>
            <a:custGeom>
              <a:avLst/>
              <a:gdLst/>
              <a:ahLst/>
              <a:cxnLst/>
              <a:rect r="r" b="b" t="t" l="l"/>
              <a:pathLst>
                <a:path h="171704" w="7432040">
                  <a:moveTo>
                    <a:pt x="12700" y="0"/>
                  </a:moveTo>
                  <a:lnTo>
                    <a:pt x="7419340" y="0"/>
                  </a:lnTo>
                  <a:cubicBezTo>
                    <a:pt x="7426325" y="0"/>
                    <a:pt x="7432040" y="5715"/>
                    <a:pt x="7432040" y="12700"/>
                  </a:cubicBezTo>
                  <a:lnTo>
                    <a:pt x="7432040" y="159004"/>
                  </a:lnTo>
                  <a:cubicBezTo>
                    <a:pt x="7432040" y="165989"/>
                    <a:pt x="7426325" y="171704"/>
                    <a:pt x="7419340" y="171704"/>
                  </a:cubicBezTo>
                  <a:lnTo>
                    <a:pt x="12700" y="171704"/>
                  </a:lnTo>
                  <a:cubicBezTo>
                    <a:pt x="5715" y="171704"/>
                    <a:pt x="0" y="165989"/>
                    <a:pt x="0" y="15900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9004"/>
                  </a:lnTo>
                  <a:lnTo>
                    <a:pt x="12700" y="159004"/>
                  </a:lnTo>
                  <a:lnTo>
                    <a:pt x="12700" y="146304"/>
                  </a:lnTo>
                  <a:lnTo>
                    <a:pt x="7419340" y="146304"/>
                  </a:lnTo>
                  <a:lnTo>
                    <a:pt x="7419340" y="159004"/>
                  </a:lnTo>
                  <a:lnTo>
                    <a:pt x="7406640" y="159004"/>
                  </a:lnTo>
                  <a:lnTo>
                    <a:pt x="7406640" y="12700"/>
                  </a:lnTo>
                  <a:lnTo>
                    <a:pt x="7419340" y="12700"/>
                  </a:lnTo>
                  <a:lnTo>
                    <a:pt x="74193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2673584" y="6035040"/>
            <a:ext cx="822960" cy="822960"/>
            <a:chOff x="0" y="0"/>
            <a:chExt cx="1097280" cy="109728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109728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2D3E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3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3565124" y="6172200"/>
            <a:ext cx="4114800" cy="548640"/>
            <a:chOff x="0" y="0"/>
            <a:chExt cx="5486400" cy="7315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54864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B1F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Convergence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2673584" y="7063740"/>
            <a:ext cx="5074920" cy="2194560"/>
            <a:chOff x="0" y="0"/>
            <a:chExt cx="6766560" cy="29260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7665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482" t="0" r="-5482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676656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 proche en proche, l'information se propage dans tout le réseau jusqu'à ce que tous les routeurs aient une vision cohérente : c'est la convergence.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678656" y="9662636"/>
            <a:ext cx="16884968" cy="14288"/>
            <a:chOff x="0" y="0"/>
            <a:chExt cx="22513290" cy="1905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9525" y="0"/>
              <a:ext cx="22494239" cy="19050"/>
            </a:xfrm>
            <a:custGeom>
              <a:avLst/>
              <a:gdLst/>
              <a:ahLst/>
              <a:cxnLst/>
              <a:rect r="r" b="b" t="t" l="l"/>
              <a:pathLst>
                <a:path h="1905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685800" y="9738360"/>
            <a:ext cx="10972800" cy="411480"/>
            <a:chOff x="0" y="0"/>
            <a:chExt cx="14630400" cy="5486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RIP — Routing Information Protocol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6184880" y="9738360"/>
            <a:ext cx="1371600" cy="411480"/>
            <a:chOff x="0" y="0"/>
            <a:chExt cx="1828800" cy="54864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/ 12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80060"/>
            <a:ext cx="16870680" cy="822960"/>
            <a:chOff x="0" y="0"/>
            <a:chExt cx="2249424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942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4942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1F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Format des messages RIPv2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1303020"/>
            <a:ext cx="16870680" cy="480060"/>
            <a:chOff x="0" y="0"/>
            <a:chExt cx="22494240" cy="640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94239" cy="640080"/>
            </a:xfrm>
            <a:custGeom>
              <a:avLst/>
              <a:gdLst/>
              <a:ahLst/>
              <a:cxnLst/>
              <a:rect r="r" b="b" t="t" l="l"/>
              <a:pathLst>
                <a:path h="6400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4759" r="0" b="-63475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24942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1C729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Encapsulation et structure du paquet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76275" y="1910715"/>
            <a:ext cx="704850" cy="101346"/>
            <a:chOff x="0" y="0"/>
            <a:chExt cx="939800" cy="135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" y="12700"/>
              <a:ext cx="914400" cy="109728"/>
            </a:xfrm>
            <a:custGeom>
              <a:avLst/>
              <a:gdLst/>
              <a:ahLst/>
              <a:cxnLst/>
              <a:rect r="r" b="b" t="t" l="l"/>
              <a:pathLst>
                <a:path h="109728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9800" cy="135128"/>
            </a:xfrm>
            <a:custGeom>
              <a:avLst/>
              <a:gdLst/>
              <a:ahLst/>
              <a:cxnLst/>
              <a:rect r="r" b="b" t="t" l="l"/>
              <a:pathLst>
                <a:path h="135128" w="939800">
                  <a:moveTo>
                    <a:pt x="12700" y="0"/>
                  </a:moveTo>
                  <a:lnTo>
                    <a:pt x="927100" y="0"/>
                  </a:lnTo>
                  <a:cubicBezTo>
                    <a:pt x="934085" y="0"/>
                    <a:pt x="939800" y="5715"/>
                    <a:pt x="939800" y="12700"/>
                  </a:cubicBezTo>
                  <a:lnTo>
                    <a:pt x="939800" y="122428"/>
                  </a:lnTo>
                  <a:cubicBezTo>
                    <a:pt x="939800" y="129413"/>
                    <a:pt x="934085" y="135128"/>
                    <a:pt x="927100" y="135128"/>
                  </a:cubicBezTo>
                  <a:lnTo>
                    <a:pt x="12700" y="135128"/>
                  </a:lnTo>
                  <a:cubicBezTo>
                    <a:pt x="5715" y="135128"/>
                    <a:pt x="0" y="129413"/>
                    <a:pt x="0" y="12242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2428"/>
                  </a:lnTo>
                  <a:lnTo>
                    <a:pt x="12700" y="122428"/>
                  </a:lnTo>
                  <a:lnTo>
                    <a:pt x="12700" y="109728"/>
                  </a:lnTo>
                  <a:lnTo>
                    <a:pt x="927100" y="109728"/>
                  </a:lnTo>
                  <a:lnTo>
                    <a:pt x="927100" y="122428"/>
                  </a:lnTo>
                  <a:lnTo>
                    <a:pt x="914400" y="122428"/>
                  </a:lnTo>
                  <a:lnTo>
                    <a:pt x="914400" y="12700"/>
                  </a:lnTo>
                  <a:lnTo>
                    <a:pt x="927100" y="12700"/>
                  </a:lnTo>
                  <a:lnTo>
                    <a:pt x="9271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85800" y="2331720"/>
            <a:ext cx="6858000" cy="411480"/>
            <a:chOff x="0" y="0"/>
            <a:chExt cx="91440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50">
                  <a:solidFill>
                    <a:srgbClr val="1C7293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ENCAPSULATION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6275" y="2802255"/>
            <a:ext cx="6191250" cy="704850"/>
            <a:chOff x="0" y="0"/>
            <a:chExt cx="8255000" cy="939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8229600" cy="914400"/>
            </a:xfrm>
            <a:custGeom>
              <a:avLst/>
              <a:gdLst/>
              <a:ahLst/>
              <a:cxnLst/>
              <a:rect r="r" b="b" t="t" l="l"/>
              <a:pathLst>
                <a:path h="91440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75569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255000" cy="939800"/>
            </a:xfrm>
            <a:custGeom>
              <a:avLst/>
              <a:gdLst/>
              <a:ahLst/>
              <a:cxnLst/>
              <a:rect r="r" b="b" t="t" l="l"/>
              <a:pathLst>
                <a:path h="939800" w="8255000">
                  <a:moveTo>
                    <a:pt x="12700" y="0"/>
                  </a:moveTo>
                  <a:lnTo>
                    <a:pt x="8242300" y="0"/>
                  </a:lnTo>
                  <a:cubicBezTo>
                    <a:pt x="8249285" y="0"/>
                    <a:pt x="8255000" y="5715"/>
                    <a:pt x="8255000" y="12700"/>
                  </a:cubicBezTo>
                  <a:lnTo>
                    <a:pt x="8255000" y="927100"/>
                  </a:lnTo>
                  <a:cubicBezTo>
                    <a:pt x="8255000" y="934085"/>
                    <a:pt x="8249285" y="939800"/>
                    <a:pt x="8242300" y="939800"/>
                  </a:cubicBezTo>
                  <a:lnTo>
                    <a:pt x="12700" y="939800"/>
                  </a:lnTo>
                  <a:cubicBezTo>
                    <a:pt x="5715" y="939800"/>
                    <a:pt x="0" y="934085"/>
                    <a:pt x="0" y="9271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27100"/>
                  </a:lnTo>
                  <a:lnTo>
                    <a:pt x="12700" y="927100"/>
                  </a:lnTo>
                  <a:lnTo>
                    <a:pt x="12700" y="914400"/>
                  </a:lnTo>
                  <a:lnTo>
                    <a:pt x="8242300" y="914400"/>
                  </a:lnTo>
                  <a:lnTo>
                    <a:pt x="8242300" y="927100"/>
                  </a:lnTo>
                  <a:lnTo>
                    <a:pt x="8229600" y="927100"/>
                  </a:lnTo>
                  <a:lnTo>
                    <a:pt x="8229600" y="12700"/>
                  </a:lnTo>
                  <a:lnTo>
                    <a:pt x="8242300" y="12700"/>
                  </a:lnTo>
                  <a:lnTo>
                    <a:pt x="82423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85800" y="2811780"/>
            <a:ext cx="2057400" cy="685800"/>
            <a:chOff x="0" y="0"/>
            <a:chExt cx="274320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43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7432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Ethernet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880360" y="2811780"/>
            <a:ext cx="4114800" cy="685800"/>
            <a:chOff x="0" y="0"/>
            <a:chExt cx="548640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548640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Couche 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82015" y="3556635"/>
            <a:ext cx="5779770" cy="704850"/>
            <a:chOff x="0" y="0"/>
            <a:chExt cx="7706360" cy="939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2700" y="12700"/>
              <a:ext cx="7680960" cy="914400"/>
            </a:xfrm>
            <a:custGeom>
              <a:avLst/>
              <a:gdLst/>
              <a:ahLst/>
              <a:cxnLst/>
              <a:rect r="r" b="b" t="t" l="l"/>
              <a:pathLst>
                <a:path h="91440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E749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706360" cy="939800"/>
            </a:xfrm>
            <a:custGeom>
              <a:avLst/>
              <a:gdLst/>
              <a:ahLst/>
              <a:cxnLst/>
              <a:rect r="r" b="b" t="t" l="l"/>
              <a:pathLst>
                <a:path h="939800" w="7706360">
                  <a:moveTo>
                    <a:pt x="12700" y="0"/>
                  </a:moveTo>
                  <a:lnTo>
                    <a:pt x="7693660" y="0"/>
                  </a:lnTo>
                  <a:cubicBezTo>
                    <a:pt x="7700645" y="0"/>
                    <a:pt x="7706360" y="5715"/>
                    <a:pt x="7706360" y="12700"/>
                  </a:cubicBezTo>
                  <a:lnTo>
                    <a:pt x="7706360" y="927100"/>
                  </a:lnTo>
                  <a:cubicBezTo>
                    <a:pt x="7706360" y="934085"/>
                    <a:pt x="7700645" y="939800"/>
                    <a:pt x="7693660" y="939800"/>
                  </a:cubicBezTo>
                  <a:lnTo>
                    <a:pt x="12700" y="939800"/>
                  </a:lnTo>
                  <a:cubicBezTo>
                    <a:pt x="5715" y="939800"/>
                    <a:pt x="0" y="934085"/>
                    <a:pt x="0" y="9271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27100"/>
                  </a:lnTo>
                  <a:lnTo>
                    <a:pt x="12700" y="927100"/>
                  </a:lnTo>
                  <a:lnTo>
                    <a:pt x="12700" y="914400"/>
                  </a:lnTo>
                  <a:lnTo>
                    <a:pt x="7693660" y="914400"/>
                  </a:lnTo>
                  <a:lnTo>
                    <a:pt x="7693660" y="927100"/>
                  </a:lnTo>
                  <a:lnTo>
                    <a:pt x="7680960" y="927100"/>
                  </a:lnTo>
                  <a:lnTo>
                    <a:pt x="7680960" y="12700"/>
                  </a:lnTo>
                  <a:lnTo>
                    <a:pt x="7693660" y="12700"/>
                  </a:lnTo>
                  <a:lnTo>
                    <a:pt x="7693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91540" y="3566160"/>
            <a:ext cx="2057400" cy="685800"/>
            <a:chOff x="0" y="0"/>
            <a:chExt cx="2743200" cy="914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43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7432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IP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086100" y="3566160"/>
            <a:ext cx="4114800" cy="685800"/>
            <a:chOff x="0" y="0"/>
            <a:chExt cx="5486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48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548640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224.0.0.9 (multicast)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87755" y="4311015"/>
            <a:ext cx="5368290" cy="704850"/>
            <a:chOff x="0" y="0"/>
            <a:chExt cx="7157720" cy="939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2700" y="12700"/>
              <a:ext cx="7132320" cy="914400"/>
            </a:xfrm>
            <a:custGeom>
              <a:avLst/>
              <a:gdLst/>
              <a:ahLst/>
              <a:cxnLst/>
              <a:rect r="r" b="b" t="t" l="l"/>
              <a:pathLst>
                <a:path h="91440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157720" cy="939800"/>
            </a:xfrm>
            <a:custGeom>
              <a:avLst/>
              <a:gdLst/>
              <a:ahLst/>
              <a:cxnLst/>
              <a:rect r="r" b="b" t="t" l="l"/>
              <a:pathLst>
                <a:path h="939800" w="7157720">
                  <a:moveTo>
                    <a:pt x="12700" y="0"/>
                  </a:moveTo>
                  <a:lnTo>
                    <a:pt x="7145020" y="0"/>
                  </a:lnTo>
                  <a:cubicBezTo>
                    <a:pt x="7152005" y="0"/>
                    <a:pt x="7157720" y="5715"/>
                    <a:pt x="7157720" y="12700"/>
                  </a:cubicBezTo>
                  <a:lnTo>
                    <a:pt x="7157720" y="927100"/>
                  </a:lnTo>
                  <a:cubicBezTo>
                    <a:pt x="7157720" y="934085"/>
                    <a:pt x="7152005" y="939800"/>
                    <a:pt x="7145020" y="939800"/>
                  </a:cubicBezTo>
                  <a:lnTo>
                    <a:pt x="12700" y="939800"/>
                  </a:lnTo>
                  <a:cubicBezTo>
                    <a:pt x="5715" y="939800"/>
                    <a:pt x="0" y="934085"/>
                    <a:pt x="0" y="9271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27100"/>
                  </a:lnTo>
                  <a:lnTo>
                    <a:pt x="12700" y="927100"/>
                  </a:lnTo>
                  <a:lnTo>
                    <a:pt x="12700" y="914400"/>
                  </a:lnTo>
                  <a:lnTo>
                    <a:pt x="7145020" y="914400"/>
                  </a:lnTo>
                  <a:lnTo>
                    <a:pt x="7145020" y="927100"/>
                  </a:lnTo>
                  <a:lnTo>
                    <a:pt x="7132320" y="927100"/>
                  </a:lnTo>
                  <a:lnTo>
                    <a:pt x="7132320" y="12700"/>
                  </a:lnTo>
                  <a:lnTo>
                    <a:pt x="7145020" y="12700"/>
                  </a:lnTo>
                  <a:lnTo>
                    <a:pt x="71450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97280" y="4320540"/>
            <a:ext cx="2057400" cy="685800"/>
            <a:chOff x="0" y="0"/>
            <a:chExt cx="2743200" cy="914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743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7432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UDP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291840" y="4320540"/>
            <a:ext cx="4114800" cy="685800"/>
            <a:chOff x="0" y="0"/>
            <a:chExt cx="548640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48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548640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Port source/dest = 520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93495" y="5065395"/>
            <a:ext cx="4956810" cy="704850"/>
            <a:chOff x="0" y="0"/>
            <a:chExt cx="6609080" cy="939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2700" y="12700"/>
              <a:ext cx="6583680" cy="914400"/>
            </a:xfrm>
            <a:custGeom>
              <a:avLst/>
              <a:gdLst/>
              <a:ahLst/>
              <a:cxnLst/>
              <a:rect r="r" b="b" t="t" l="l"/>
              <a:pathLst>
                <a:path h="914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609080" cy="939800"/>
            </a:xfrm>
            <a:custGeom>
              <a:avLst/>
              <a:gdLst/>
              <a:ahLst/>
              <a:cxnLst/>
              <a:rect r="r" b="b" t="t" l="l"/>
              <a:pathLst>
                <a:path h="939800" w="6609080">
                  <a:moveTo>
                    <a:pt x="12700" y="0"/>
                  </a:moveTo>
                  <a:lnTo>
                    <a:pt x="6596380" y="0"/>
                  </a:lnTo>
                  <a:cubicBezTo>
                    <a:pt x="6603365" y="0"/>
                    <a:pt x="6609080" y="5715"/>
                    <a:pt x="6609080" y="12700"/>
                  </a:cubicBezTo>
                  <a:lnTo>
                    <a:pt x="6609080" y="927100"/>
                  </a:lnTo>
                  <a:cubicBezTo>
                    <a:pt x="6609080" y="934085"/>
                    <a:pt x="6603365" y="939800"/>
                    <a:pt x="6596380" y="939800"/>
                  </a:cubicBezTo>
                  <a:lnTo>
                    <a:pt x="12700" y="939800"/>
                  </a:lnTo>
                  <a:cubicBezTo>
                    <a:pt x="5715" y="939800"/>
                    <a:pt x="0" y="934085"/>
                    <a:pt x="0" y="9271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27100"/>
                  </a:lnTo>
                  <a:lnTo>
                    <a:pt x="12700" y="927100"/>
                  </a:lnTo>
                  <a:lnTo>
                    <a:pt x="12700" y="914400"/>
                  </a:lnTo>
                  <a:lnTo>
                    <a:pt x="6596380" y="914400"/>
                  </a:lnTo>
                  <a:lnTo>
                    <a:pt x="6596380" y="927100"/>
                  </a:lnTo>
                  <a:lnTo>
                    <a:pt x="6583680" y="927100"/>
                  </a:lnTo>
                  <a:lnTo>
                    <a:pt x="6583680" y="12700"/>
                  </a:lnTo>
                  <a:lnTo>
                    <a:pt x="6596380" y="12700"/>
                  </a:lnTo>
                  <a:lnTo>
                    <a:pt x="65963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03020" y="5074920"/>
            <a:ext cx="2057400" cy="685800"/>
            <a:chOff x="0" y="0"/>
            <a:chExt cx="2743200" cy="914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743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7432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RIP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3497580" y="5074920"/>
            <a:ext cx="4114800" cy="685800"/>
            <a:chOff x="0" y="0"/>
            <a:chExt cx="548640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8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548640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Message de routage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85800" y="6103620"/>
            <a:ext cx="7543800" cy="685800"/>
            <a:chOff x="0" y="0"/>
            <a:chExt cx="10058400" cy="914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058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1005840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Le routeur écoute sur le port UDP 520 et émet ses mises à jour vers le multicast 224.0.0.9.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641080" y="2331720"/>
            <a:ext cx="8229600" cy="411480"/>
            <a:chOff x="0" y="0"/>
            <a:chExt cx="10972800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50">
                  <a:solidFill>
                    <a:srgbClr val="1C7293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STRUCTURE D'UN MESSAGE RIPv2</a:t>
              </a:r>
            </a:p>
          </p:txBody>
        </p:sp>
      </p:grpSp>
      <p:graphicFrame>
        <p:nvGraphicFramePr>
          <p:cNvPr name="Table 56" id="56"/>
          <p:cNvGraphicFramePr>
            <a:graphicFrameLocks noGrp="true"/>
          </p:cNvGraphicFramePr>
          <p:nvPr/>
        </p:nvGraphicFramePr>
        <p:xfrm>
          <a:off x="8641080" y="2811780"/>
          <a:ext cx="8896350" cy="4096385"/>
        </p:xfrm>
        <a:graphic>
          <a:graphicData uri="http://schemas.openxmlformats.org/drawingml/2006/table">
            <a:tbl>
              <a:tblPr/>
              <a:tblGrid>
                <a:gridCol w="2194811"/>
                <a:gridCol w="1650830"/>
                <a:gridCol w="5050709"/>
              </a:tblGrid>
              <a:tr h="4000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Champ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Taille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Description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Command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 octet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 = Request, 2 = Response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Version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 octet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 (pour RIPv2)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Routing entries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20 octets × 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Jusqu'à 25 routes par paquet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0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AFI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 octets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Address Family Identifier (= 2 pour IPv4)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Route Tag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 octets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Marquage des routes externes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IP Address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 octets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Adresse réseau de destination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Subnet Mask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 octets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Masque (nouveauté v2)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Next Hop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 octets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Prochain saut (0.0.0.0 = expéditeur)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Metric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 octets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Nombre de sauts (1 à 15, 16 = ∞)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57" id="57"/>
          <p:cNvGrpSpPr/>
          <p:nvPr/>
        </p:nvGrpSpPr>
        <p:grpSpPr>
          <a:xfrm rot="0">
            <a:off x="676275" y="7259955"/>
            <a:ext cx="16889730" cy="2145030"/>
            <a:chOff x="0" y="0"/>
            <a:chExt cx="22519640" cy="28600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2700" y="12700"/>
              <a:ext cx="22494239" cy="2834640"/>
            </a:xfrm>
            <a:custGeom>
              <a:avLst/>
              <a:gdLst/>
              <a:ahLst/>
              <a:cxnLst/>
              <a:rect r="r" b="b" t="t" l="l"/>
              <a:pathLst>
                <a:path h="283464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2834640"/>
                  </a:lnTo>
                  <a:lnTo>
                    <a:pt x="0" y="2834640"/>
                  </a:lnTo>
                  <a:close/>
                </a:path>
              </a:pathLst>
            </a:custGeom>
            <a:solidFill>
              <a:srgbClr val="0B1F3A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2519639" cy="2860040"/>
            </a:xfrm>
            <a:custGeom>
              <a:avLst/>
              <a:gdLst/>
              <a:ahLst/>
              <a:cxnLst/>
              <a:rect r="r" b="b" t="t" l="l"/>
              <a:pathLst>
                <a:path h="2860040" w="22519639">
                  <a:moveTo>
                    <a:pt x="12700" y="0"/>
                  </a:moveTo>
                  <a:lnTo>
                    <a:pt x="22506939" y="0"/>
                  </a:lnTo>
                  <a:cubicBezTo>
                    <a:pt x="22513925" y="0"/>
                    <a:pt x="22519639" y="5715"/>
                    <a:pt x="22519639" y="12700"/>
                  </a:cubicBezTo>
                  <a:lnTo>
                    <a:pt x="22519639" y="2847340"/>
                  </a:lnTo>
                  <a:cubicBezTo>
                    <a:pt x="22519639" y="2854325"/>
                    <a:pt x="22513925" y="2860040"/>
                    <a:pt x="22506939" y="2860040"/>
                  </a:cubicBezTo>
                  <a:lnTo>
                    <a:pt x="12700" y="2860040"/>
                  </a:lnTo>
                  <a:cubicBezTo>
                    <a:pt x="5715" y="2860040"/>
                    <a:pt x="0" y="2854325"/>
                    <a:pt x="0" y="28473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47340"/>
                  </a:lnTo>
                  <a:lnTo>
                    <a:pt x="12700" y="2847340"/>
                  </a:lnTo>
                  <a:lnTo>
                    <a:pt x="12700" y="2834640"/>
                  </a:lnTo>
                  <a:lnTo>
                    <a:pt x="22506939" y="2834640"/>
                  </a:lnTo>
                  <a:lnTo>
                    <a:pt x="22506939" y="2847340"/>
                  </a:lnTo>
                  <a:lnTo>
                    <a:pt x="22494239" y="2847340"/>
                  </a:lnTo>
                  <a:lnTo>
                    <a:pt x="22494239" y="12700"/>
                  </a:lnTo>
                  <a:lnTo>
                    <a:pt x="22506939" y="12700"/>
                  </a:lnTo>
                  <a:lnTo>
                    <a:pt x="225069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76275" y="7259955"/>
            <a:ext cx="156210" cy="2145030"/>
            <a:chOff x="0" y="0"/>
            <a:chExt cx="208280" cy="28600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12700" y="12700"/>
              <a:ext cx="18288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82880">
                  <a:moveTo>
                    <a:pt x="0" y="0"/>
                  </a:moveTo>
                  <a:lnTo>
                    <a:pt x="182880" y="0"/>
                  </a:lnTo>
                  <a:lnTo>
                    <a:pt x="182880" y="2834640"/>
                  </a:lnTo>
                  <a:lnTo>
                    <a:pt x="0" y="2834640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08280" cy="2860040"/>
            </a:xfrm>
            <a:custGeom>
              <a:avLst/>
              <a:gdLst/>
              <a:ahLst/>
              <a:cxnLst/>
              <a:rect r="r" b="b" t="t" l="l"/>
              <a:pathLst>
                <a:path h="2860040" w="208280">
                  <a:moveTo>
                    <a:pt x="12700" y="0"/>
                  </a:moveTo>
                  <a:lnTo>
                    <a:pt x="195580" y="0"/>
                  </a:lnTo>
                  <a:cubicBezTo>
                    <a:pt x="202565" y="0"/>
                    <a:pt x="208280" y="5715"/>
                    <a:pt x="208280" y="12700"/>
                  </a:cubicBezTo>
                  <a:lnTo>
                    <a:pt x="208280" y="2847340"/>
                  </a:lnTo>
                  <a:cubicBezTo>
                    <a:pt x="208280" y="2854325"/>
                    <a:pt x="202565" y="2860040"/>
                    <a:pt x="195580" y="2860040"/>
                  </a:cubicBezTo>
                  <a:lnTo>
                    <a:pt x="12700" y="2860040"/>
                  </a:lnTo>
                  <a:cubicBezTo>
                    <a:pt x="5715" y="2860040"/>
                    <a:pt x="0" y="2854325"/>
                    <a:pt x="0" y="28473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47340"/>
                  </a:lnTo>
                  <a:lnTo>
                    <a:pt x="12700" y="2847340"/>
                  </a:lnTo>
                  <a:lnTo>
                    <a:pt x="12700" y="2834640"/>
                  </a:lnTo>
                  <a:lnTo>
                    <a:pt x="195580" y="2834640"/>
                  </a:lnTo>
                  <a:lnTo>
                    <a:pt x="195580" y="2847340"/>
                  </a:lnTo>
                  <a:lnTo>
                    <a:pt x="182880" y="2847340"/>
                  </a:lnTo>
                  <a:lnTo>
                    <a:pt x="182880" y="12700"/>
                  </a:lnTo>
                  <a:lnTo>
                    <a:pt x="195580" y="12700"/>
                  </a:lnTo>
                  <a:lnTo>
                    <a:pt x="1955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65860" y="7406640"/>
            <a:ext cx="10972800" cy="548640"/>
            <a:chOff x="0" y="0"/>
            <a:chExt cx="14630400" cy="7315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RIPv1 vs RIPv2 — les apports majeurs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165860" y="8023860"/>
            <a:ext cx="7955280" cy="548640"/>
            <a:chOff x="0" y="0"/>
            <a:chExt cx="10607040" cy="7315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06070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Support du VLSM / CIDR (masque transmis)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395460" y="8023860"/>
            <a:ext cx="7955280" cy="548640"/>
            <a:chOff x="0" y="0"/>
            <a:chExt cx="10607040" cy="7315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106070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Multicast 224.0.0.9 au lieu de broadcast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165860" y="8572500"/>
            <a:ext cx="7955280" cy="548640"/>
            <a:chOff x="0" y="0"/>
            <a:chExt cx="10607040" cy="7315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106070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Authentification MD5 (RFC 2082)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395460" y="8572500"/>
            <a:ext cx="7955280" cy="548640"/>
            <a:chOff x="0" y="0"/>
            <a:chExt cx="10607040" cy="7315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106070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Route tag pour distinguer routes internes/externes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678656" y="9662636"/>
            <a:ext cx="16884968" cy="14288"/>
            <a:chOff x="0" y="0"/>
            <a:chExt cx="22513290" cy="1905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9525" y="0"/>
              <a:ext cx="22494239" cy="19050"/>
            </a:xfrm>
            <a:custGeom>
              <a:avLst/>
              <a:gdLst/>
              <a:ahLst/>
              <a:cxnLst/>
              <a:rect r="r" b="b" t="t" l="l"/>
              <a:pathLst>
                <a:path h="1905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85800" y="9738360"/>
            <a:ext cx="10972800" cy="411480"/>
            <a:chOff x="0" y="0"/>
            <a:chExt cx="14630400" cy="5486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RIP — Routing Information Protocol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6184880" y="9738360"/>
            <a:ext cx="1371600" cy="411480"/>
            <a:chOff x="0" y="0"/>
            <a:chExt cx="1828800" cy="5486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 / 12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80060"/>
            <a:ext cx="16870680" cy="822960"/>
            <a:chOff x="0" y="0"/>
            <a:chExt cx="2249424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942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4942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1F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Temporisateurs &amp; mécanismes anti-boucle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1303020"/>
            <a:ext cx="16870680" cy="480060"/>
            <a:chOff x="0" y="0"/>
            <a:chExt cx="22494240" cy="640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94239" cy="640080"/>
            </a:xfrm>
            <a:custGeom>
              <a:avLst/>
              <a:gdLst/>
              <a:ahLst/>
              <a:cxnLst/>
              <a:rect r="r" b="b" t="t" l="l"/>
              <a:pathLst>
                <a:path h="6400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4759" r="0" b="-63475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24942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1C729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Comment RIP gère la stabilité du réseau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76275" y="1910715"/>
            <a:ext cx="704850" cy="101346"/>
            <a:chOff x="0" y="0"/>
            <a:chExt cx="939800" cy="135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" y="12700"/>
              <a:ext cx="914400" cy="109728"/>
            </a:xfrm>
            <a:custGeom>
              <a:avLst/>
              <a:gdLst/>
              <a:ahLst/>
              <a:cxnLst/>
              <a:rect r="r" b="b" t="t" l="l"/>
              <a:pathLst>
                <a:path h="109728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9800" cy="135128"/>
            </a:xfrm>
            <a:custGeom>
              <a:avLst/>
              <a:gdLst/>
              <a:ahLst/>
              <a:cxnLst/>
              <a:rect r="r" b="b" t="t" l="l"/>
              <a:pathLst>
                <a:path h="135128" w="939800">
                  <a:moveTo>
                    <a:pt x="12700" y="0"/>
                  </a:moveTo>
                  <a:lnTo>
                    <a:pt x="927100" y="0"/>
                  </a:lnTo>
                  <a:cubicBezTo>
                    <a:pt x="934085" y="0"/>
                    <a:pt x="939800" y="5715"/>
                    <a:pt x="939800" y="12700"/>
                  </a:cubicBezTo>
                  <a:lnTo>
                    <a:pt x="939800" y="122428"/>
                  </a:lnTo>
                  <a:cubicBezTo>
                    <a:pt x="939800" y="129413"/>
                    <a:pt x="934085" y="135128"/>
                    <a:pt x="927100" y="135128"/>
                  </a:cubicBezTo>
                  <a:lnTo>
                    <a:pt x="12700" y="135128"/>
                  </a:lnTo>
                  <a:cubicBezTo>
                    <a:pt x="5715" y="135128"/>
                    <a:pt x="0" y="129413"/>
                    <a:pt x="0" y="12242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2428"/>
                  </a:lnTo>
                  <a:lnTo>
                    <a:pt x="12700" y="122428"/>
                  </a:lnTo>
                  <a:lnTo>
                    <a:pt x="12700" y="109728"/>
                  </a:lnTo>
                  <a:lnTo>
                    <a:pt x="927100" y="109728"/>
                  </a:lnTo>
                  <a:lnTo>
                    <a:pt x="927100" y="122428"/>
                  </a:lnTo>
                  <a:lnTo>
                    <a:pt x="914400" y="122428"/>
                  </a:lnTo>
                  <a:lnTo>
                    <a:pt x="914400" y="12700"/>
                  </a:lnTo>
                  <a:lnTo>
                    <a:pt x="927100" y="12700"/>
                  </a:lnTo>
                  <a:lnTo>
                    <a:pt x="9271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81038" y="2326958"/>
            <a:ext cx="4055745" cy="2684145"/>
            <a:chOff x="0" y="0"/>
            <a:chExt cx="5407660" cy="35788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5394960" cy="3566160"/>
            </a:xfrm>
            <a:custGeom>
              <a:avLst/>
              <a:gdLst/>
              <a:ahLst/>
              <a:cxnLst/>
              <a:rect r="r" b="b" t="t" l="l"/>
              <a:pathLst>
                <a:path h="356616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3566160"/>
                  </a:lnTo>
                  <a:lnTo>
                    <a:pt x="0" y="356616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07660" cy="3578860"/>
            </a:xfrm>
            <a:custGeom>
              <a:avLst/>
              <a:gdLst/>
              <a:ahLst/>
              <a:cxnLst/>
              <a:rect r="r" b="b" t="t" l="l"/>
              <a:pathLst>
                <a:path h="3578860" w="5407660">
                  <a:moveTo>
                    <a:pt x="6350" y="0"/>
                  </a:moveTo>
                  <a:lnTo>
                    <a:pt x="5401310" y="0"/>
                  </a:lnTo>
                  <a:cubicBezTo>
                    <a:pt x="5404866" y="0"/>
                    <a:pt x="5407660" y="2794"/>
                    <a:pt x="5407660" y="6350"/>
                  </a:cubicBezTo>
                  <a:lnTo>
                    <a:pt x="5407660" y="3572510"/>
                  </a:lnTo>
                  <a:cubicBezTo>
                    <a:pt x="5407660" y="3576066"/>
                    <a:pt x="5404866" y="3578860"/>
                    <a:pt x="5401310" y="3578860"/>
                  </a:cubicBezTo>
                  <a:lnTo>
                    <a:pt x="6350" y="3578860"/>
                  </a:lnTo>
                  <a:cubicBezTo>
                    <a:pt x="2794" y="3578860"/>
                    <a:pt x="0" y="3576066"/>
                    <a:pt x="0" y="357251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3572510"/>
                  </a:lnTo>
                  <a:lnTo>
                    <a:pt x="6350" y="3572510"/>
                  </a:lnTo>
                  <a:lnTo>
                    <a:pt x="6350" y="3566160"/>
                  </a:lnTo>
                  <a:lnTo>
                    <a:pt x="5401310" y="3566160"/>
                  </a:lnTo>
                  <a:lnTo>
                    <a:pt x="5401310" y="3572510"/>
                  </a:lnTo>
                  <a:lnTo>
                    <a:pt x="5394960" y="3572510"/>
                  </a:lnTo>
                  <a:lnTo>
                    <a:pt x="5394960" y="6350"/>
                  </a:lnTo>
                  <a:lnTo>
                    <a:pt x="5401310" y="6350"/>
                  </a:lnTo>
                  <a:lnTo>
                    <a:pt x="540131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0120" y="2537460"/>
            <a:ext cx="480060" cy="480060"/>
            <a:chOff x="0" y="0"/>
            <a:chExt cx="640080" cy="64008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60120" y="3017520"/>
            <a:ext cx="3429000" cy="822960"/>
            <a:chOff x="0" y="0"/>
            <a:chExt cx="4572000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72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45720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2D3E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30s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60120" y="3909060"/>
            <a:ext cx="3429000" cy="411480"/>
            <a:chOff x="0" y="0"/>
            <a:chExt cx="45720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572000" cy="548640"/>
            </a:xfrm>
            <a:custGeom>
              <a:avLst/>
              <a:gdLst/>
              <a:ahLst/>
              <a:cxnLst/>
              <a:rect r="r" b="b" t="t" l="l"/>
              <a:pathLst>
                <a:path h="5486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45720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Update timer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60120" y="4361688"/>
            <a:ext cx="3497580" cy="685800"/>
            <a:chOff x="0" y="0"/>
            <a:chExt cx="466344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663440" cy="914400"/>
            </a:xfrm>
            <a:custGeom>
              <a:avLst/>
              <a:gdLst/>
              <a:ahLst/>
              <a:cxnLst/>
              <a:rect r="r" b="b" t="t" l="l"/>
              <a:pathLst>
                <a:path h="91440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373" r="0" b="-4937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6634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Intervalle entre deux envois périodiques de la table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001578" y="2326958"/>
            <a:ext cx="4055745" cy="2684145"/>
            <a:chOff x="0" y="0"/>
            <a:chExt cx="5407660" cy="35788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6350" y="6350"/>
              <a:ext cx="5394960" cy="3566160"/>
            </a:xfrm>
            <a:custGeom>
              <a:avLst/>
              <a:gdLst/>
              <a:ahLst/>
              <a:cxnLst/>
              <a:rect r="r" b="b" t="t" l="l"/>
              <a:pathLst>
                <a:path h="356616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3566160"/>
                  </a:lnTo>
                  <a:lnTo>
                    <a:pt x="0" y="356616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07660" cy="3578860"/>
            </a:xfrm>
            <a:custGeom>
              <a:avLst/>
              <a:gdLst/>
              <a:ahLst/>
              <a:cxnLst/>
              <a:rect r="r" b="b" t="t" l="l"/>
              <a:pathLst>
                <a:path h="3578860" w="5407660">
                  <a:moveTo>
                    <a:pt x="6350" y="0"/>
                  </a:moveTo>
                  <a:lnTo>
                    <a:pt x="5401310" y="0"/>
                  </a:lnTo>
                  <a:cubicBezTo>
                    <a:pt x="5404866" y="0"/>
                    <a:pt x="5407660" y="2794"/>
                    <a:pt x="5407660" y="6350"/>
                  </a:cubicBezTo>
                  <a:lnTo>
                    <a:pt x="5407660" y="3572510"/>
                  </a:lnTo>
                  <a:cubicBezTo>
                    <a:pt x="5407660" y="3576066"/>
                    <a:pt x="5404866" y="3578860"/>
                    <a:pt x="5401310" y="3578860"/>
                  </a:cubicBezTo>
                  <a:lnTo>
                    <a:pt x="6350" y="3578860"/>
                  </a:lnTo>
                  <a:cubicBezTo>
                    <a:pt x="2794" y="3578860"/>
                    <a:pt x="0" y="3576066"/>
                    <a:pt x="0" y="357251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3572510"/>
                  </a:lnTo>
                  <a:lnTo>
                    <a:pt x="6350" y="3572510"/>
                  </a:lnTo>
                  <a:lnTo>
                    <a:pt x="6350" y="3566160"/>
                  </a:lnTo>
                  <a:lnTo>
                    <a:pt x="5401310" y="3566160"/>
                  </a:lnTo>
                  <a:lnTo>
                    <a:pt x="5401310" y="3572510"/>
                  </a:lnTo>
                  <a:lnTo>
                    <a:pt x="5394960" y="3572510"/>
                  </a:lnTo>
                  <a:lnTo>
                    <a:pt x="5394960" y="6350"/>
                  </a:lnTo>
                  <a:lnTo>
                    <a:pt x="5401310" y="6350"/>
                  </a:lnTo>
                  <a:lnTo>
                    <a:pt x="540131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280660" y="2537460"/>
            <a:ext cx="480060" cy="480060"/>
            <a:chOff x="0" y="0"/>
            <a:chExt cx="640080" cy="64008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280660" y="3017520"/>
            <a:ext cx="3429000" cy="822960"/>
            <a:chOff x="0" y="0"/>
            <a:chExt cx="4572000" cy="1097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572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45720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2D3E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180s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280660" y="3909060"/>
            <a:ext cx="3429000" cy="411480"/>
            <a:chOff x="0" y="0"/>
            <a:chExt cx="457200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72000" cy="548640"/>
            </a:xfrm>
            <a:custGeom>
              <a:avLst/>
              <a:gdLst/>
              <a:ahLst/>
              <a:cxnLst/>
              <a:rect r="r" b="b" t="t" l="l"/>
              <a:pathLst>
                <a:path h="5486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45720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Invalid timer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280660" y="4361688"/>
            <a:ext cx="3497580" cy="685800"/>
            <a:chOff x="0" y="0"/>
            <a:chExt cx="4663440" cy="914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663440" cy="914400"/>
            </a:xfrm>
            <a:custGeom>
              <a:avLst/>
              <a:gdLst/>
              <a:ahLst/>
              <a:cxnLst/>
              <a:rect r="r" b="b" t="t" l="l"/>
              <a:pathLst>
                <a:path h="91440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373" r="0" b="-4937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46634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Sans nouvelle, la route est marquée invalide (métrique = 16)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22118" y="2326958"/>
            <a:ext cx="4055745" cy="2684145"/>
            <a:chOff x="0" y="0"/>
            <a:chExt cx="5407660" cy="35788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6350" y="6350"/>
              <a:ext cx="5394960" cy="3566160"/>
            </a:xfrm>
            <a:custGeom>
              <a:avLst/>
              <a:gdLst/>
              <a:ahLst/>
              <a:cxnLst/>
              <a:rect r="r" b="b" t="t" l="l"/>
              <a:pathLst>
                <a:path h="356616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3566160"/>
                  </a:lnTo>
                  <a:lnTo>
                    <a:pt x="0" y="356616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407660" cy="3578860"/>
            </a:xfrm>
            <a:custGeom>
              <a:avLst/>
              <a:gdLst/>
              <a:ahLst/>
              <a:cxnLst/>
              <a:rect r="r" b="b" t="t" l="l"/>
              <a:pathLst>
                <a:path h="3578860" w="5407660">
                  <a:moveTo>
                    <a:pt x="6350" y="0"/>
                  </a:moveTo>
                  <a:lnTo>
                    <a:pt x="5401310" y="0"/>
                  </a:lnTo>
                  <a:cubicBezTo>
                    <a:pt x="5404866" y="0"/>
                    <a:pt x="5407660" y="2794"/>
                    <a:pt x="5407660" y="6350"/>
                  </a:cubicBezTo>
                  <a:lnTo>
                    <a:pt x="5407660" y="3572510"/>
                  </a:lnTo>
                  <a:cubicBezTo>
                    <a:pt x="5407660" y="3576066"/>
                    <a:pt x="5404866" y="3578860"/>
                    <a:pt x="5401310" y="3578860"/>
                  </a:cubicBezTo>
                  <a:lnTo>
                    <a:pt x="6350" y="3578860"/>
                  </a:lnTo>
                  <a:cubicBezTo>
                    <a:pt x="2794" y="3578860"/>
                    <a:pt x="0" y="3576066"/>
                    <a:pt x="0" y="357251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3572510"/>
                  </a:lnTo>
                  <a:lnTo>
                    <a:pt x="6350" y="3572510"/>
                  </a:lnTo>
                  <a:lnTo>
                    <a:pt x="6350" y="3566160"/>
                  </a:lnTo>
                  <a:lnTo>
                    <a:pt x="5401310" y="3566160"/>
                  </a:lnTo>
                  <a:lnTo>
                    <a:pt x="5401310" y="3572510"/>
                  </a:lnTo>
                  <a:lnTo>
                    <a:pt x="5394960" y="3572510"/>
                  </a:lnTo>
                  <a:lnTo>
                    <a:pt x="5394960" y="6350"/>
                  </a:lnTo>
                  <a:lnTo>
                    <a:pt x="5401310" y="6350"/>
                  </a:lnTo>
                  <a:lnTo>
                    <a:pt x="540131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601200" y="2537460"/>
            <a:ext cx="480060" cy="480060"/>
            <a:chOff x="0" y="0"/>
            <a:chExt cx="640080" cy="640080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601200" y="3017520"/>
            <a:ext cx="3429000" cy="822960"/>
            <a:chOff x="0" y="0"/>
            <a:chExt cx="4572000" cy="1097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572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45720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2D3E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180s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601200" y="3909060"/>
            <a:ext cx="3429000" cy="411480"/>
            <a:chOff x="0" y="0"/>
            <a:chExt cx="4572000" cy="5486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572000" cy="548640"/>
            </a:xfrm>
            <a:custGeom>
              <a:avLst/>
              <a:gdLst/>
              <a:ahLst/>
              <a:cxnLst/>
              <a:rect r="r" b="b" t="t" l="l"/>
              <a:pathLst>
                <a:path h="5486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45720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Holddown timer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601200" y="4361688"/>
            <a:ext cx="3497580" cy="685800"/>
            <a:chOff x="0" y="0"/>
            <a:chExt cx="4663440" cy="914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663440" cy="914400"/>
            </a:xfrm>
            <a:custGeom>
              <a:avLst/>
              <a:gdLst/>
              <a:ahLst/>
              <a:cxnLst/>
              <a:rect r="r" b="b" t="t" l="l"/>
              <a:pathLst>
                <a:path h="91440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373" r="0" b="-4937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6634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Période d'attente avant d'accepter une nouvelle info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642657" y="2326958"/>
            <a:ext cx="4055745" cy="2684145"/>
            <a:chOff x="0" y="0"/>
            <a:chExt cx="5407660" cy="35788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6350" y="6350"/>
              <a:ext cx="5394960" cy="3566160"/>
            </a:xfrm>
            <a:custGeom>
              <a:avLst/>
              <a:gdLst/>
              <a:ahLst/>
              <a:cxnLst/>
              <a:rect r="r" b="b" t="t" l="l"/>
              <a:pathLst>
                <a:path h="356616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3566160"/>
                  </a:lnTo>
                  <a:lnTo>
                    <a:pt x="0" y="356616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07660" cy="3578860"/>
            </a:xfrm>
            <a:custGeom>
              <a:avLst/>
              <a:gdLst/>
              <a:ahLst/>
              <a:cxnLst/>
              <a:rect r="r" b="b" t="t" l="l"/>
              <a:pathLst>
                <a:path h="3578860" w="5407660">
                  <a:moveTo>
                    <a:pt x="6350" y="0"/>
                  </a:moveTo>
                  <a:lnTo>
                    <a:pt x="5401310" y="0"/>
                  </a:lnTo>
                  <a:cubicBezTo>
                    <a:pt x="5404866" y="0"/>
                    <a:pt x="5407660" y="2794"/>
                    <a:pt x="5407660" y="6350"/>
                  </a:cubicBezTo>
                  <a:lnTo>
                    <a:pt x="5407660" y="3572510"/>
                  </a:lnTo>
                  <a:cubicBezTo>
                    <a:pt x="5407660" y="3576066"/>
                    <a:pt x="5404866" y="3578860"/>
                    <a:pt x="5401310" y="3578860"/>
                  </a:cubicBezTo>
                  <a:lnTo>
                    <a:pt x="6350" y="3578860"/>
                  </a:lnTo>
                  <a:cubicBezTo>
                    <a:pt x="2794" y="3578860"/>
                    <a:pt x="0" y="3576066"/>
                    <a:pt x="0" y="357251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3572510"/>
                  </a:lnTo>
                  <a:lnTo>
                    <a:pt x="6350" y="3572510"/>
                  </a:lnTo>
                  <a:lnTo>
                    <a:pt x="6350" y="3566160"/>
                  </a:lnTo>
                  <a:lnTo>
                    <a:pt x="5401310" y="3566160"/>
                  </a:lnTo>
                  <a:lnTo>
                    <a:pt x="5401310" y="3572510"/>
                  </a:lnTo>
                  <a:lnTo>
                    <a:pt x="5394960" y="3572510"/>
                  </a:lnTo>
                  <a:lnTo>
                    <a:pt x="5394960" y="6350"/>
                  </a:lnTo>
                  <a:lnTo>
                    <a:pt x="5401310" y="6350"/>
                  </a:lnTo>
                  <a:lnTo>
                    <a:pt x="540131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3921740" y="2537460"/>
            <a:ext cx="480060" cy="480060"/>
            <a:chOff x="0" y="0"/>
            <a:chExt cx="640080" cy="640080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3921740" y="3017520"/>
            <a:ext cx="3429000" cy="822960"/>
            <a:chOff x="0" y="0"/>
            <a:chExt cx="4572000" cy="10972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572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45720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2D3E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240s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3921740" y="3909060"/>
            <a:ext cx="3429000" cy="411480"/>
            <a:chOff x="0" y="0"/>
            <a:chExt cx="4572000" cy="5486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572000" cy="548640"/>
            </a:xfrm>
            <a:custGeom>
              <a:avLst/>
              <a:gdLst/>
              <a:ahLst/>
              <a:cxnLst/>
              <a:rect r="r" b="b" t="t" l="l"/>
              <a:pathLst>
                <a:path h="5486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45720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Flush timer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921740" y="4361688"/>
            <a:ext cx="3497580" cy="685800"/>
            <a:chOff x="0" y="0"/>
            <a:chExt cx="4663440" cy="9144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663440" cy="914400"/>
            </a:xfrm>
            <a:custGeom>
              <a:avLst/>
              <a:gdLst/>
              <a:ahLst/>
              <a:cxnLst/>
              <a:rect r="r" b="b" t="t" l="l"/>
              <a:pathLst>
                <a:path h="91440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373" r="0" b="-49373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46634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Délai avant suppression définitive de la route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85800" y="5417820"/>
            <a:ext cx="13716000" cy="411480"/>
            <a:chOff x="0" y="0"/>
            <a:chExt cx="18288000" cy="5486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18288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50">
                  <a:solidFill>
                    <a:srgbClr val="1C7293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MÉCANISMES ANTI-BOUCLE DE ROUTAGE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681038" y="5961697"/>
            <a:ext cx="8239125" cy="1518285"/>
            <a:chOff x="0" y="0"/>
            <a:chExt cx="10985500" cy="20243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6350" y="6350"/>
              <a:ext cx="109728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011680"/>
                  </a:lnTo>
                  <a:lnTo>
                    <a:pt x="0" y="2011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985500" cy="2024380"/>
            </a:xfrm>
            <a:custGeom>
              <a:avLst/>
              <a:gdLst/>
              <a:ahLst/>
              <a:cxnLst/>
              <a:rect r="r" b="b" t="t" l="l"/>
              <a:pathLst>
                <a:path h="2024380" w="10985500">
                  <a:moveTo>
                    <a:pt x="6350" y="0"/>
                  </a:moveTo>
                  <a:lnTo>
                    <a:pt x="10979150" y="0"/>
                  </a:lnTo>
                  <a:cubicBezTo>
                    <a:pt x="10982706" y="0"/>
                    <a:pt x="10985500" y="2794"/>
                    <a:pt x="10985500" y="6350"/>
                  </a:cubicBezTo>
                  <a:lnTo>
                    <a:pt x="10985500" y="2018030"/>
                  </a:lnTo>
                  <a:cubicBezTo>
                    <a:pt x="10985500" y="2021586"/>
                    <a:pt x="10982706" y="2024380"/>
                    <a:pt x="10979150" y="2024380"/>
                  </a:cubicBezTo>
                  <a:lnTo>
                    <a:pt x="6350" y="2024380"/>
                  </a:lnTo>
                  <a:cubicBezTo>
                    <a:pt x="2794" y="2024380"/>
                    <a:pt x="0" y="2021586"/>
                    <a:pt x="0" y="201803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2018030"/>
                  </a:lnTo>
                  <a:lnTo>
                    <a:pt x="6350" y="2018030"/>
                  </a:lnTo>
                  <a:lnTo>
                    <a:pt x="6350" y="2011680"/>
                  </a:lnTo>
                  <a:lnTo>
                    <a:pt x="10979150" y="2011680"/>
                  </a:lnTo>
                  <a:lnTo>
                    <a:pt x="10979150" y="2018030"/>
                  </a:lnTo>
                  <a:lnTo>
                    <a:pt x="10972800" y="2018030"/>
                  </a:lnTo>
                  <a:lnTo>
                    <a:pt x="10972800" y="6350"/>
                  </a:lnTo>
                  <a:lnTo>
                    <a:pt x="10979150" y="6350"/>
                  </a:lnTo>
                  <a:lnTo>
                    <a:pt x="1097915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676275" y="5956935"/>
            <a:ext cx="128778" cy="1527810"/>
            <a:chOff x="0" y="0"/>
            <a:chExt cx="171704" cy="203708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2700" y="12700"/>
              <a:ext cx="146304" cy="2011680"/>
            </a:xfrm>
            <a:custGeom>
              <a:avLst/>
              <a:gdLst/>
              <a:ahLst/>
              <a:cxnLst/>
              <a:rect r="r" b="b" t="t" l="l"/>
              <a:pathLst>
                <a:path h="20116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011680"/>
                  </a:lnTo>
                  <a:lnTo>
                    <a:pt x="0" y="2011680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71704" cy="2037080"/>
            </a:xfrm>
            <a:custGeom>
              <a:avLst/>
              <a:gdLst/>
              <a:ahLst/>
              <a:cxnLst/>
              <a:rect r="r" b="b" t="t" l="l"/>
              <a:pathLst>
                <a:path h="203708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2024380"/>
                  </a:lnTo>
                  <a:cubicBezTo>
                    <a:pt x="171704" y="2031365"/>
                    <a:pt x="165989" y="2037080"/>
                    <a:pt x="159004" y="2037080"/>
                  </a:cubicBezTo>
                  <a:lnTo>
                    <a:pt x="12700" y="2037080"/>
                  </a:lnTo>
                  <a:cubicBezTo>
                    <a:pt x="5715" y="2037080"/>
                    <a:pt x="0" y="2031365"/>
                    <a:pt x="0" y="20243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024380"/>
                  </a:lnTo>
                  <a:lnTo>
                    <a:pt x="12700" y="2024380"/>
                  </a:lnTo>
                  <a:lnTo>
                    <a:pt x="12700" y="2011680"/>
                  </a:lnTo>
                  <a:lnTo>
                    <a:pt x="159004" y="2011680"/>
                  </a:lnTo>
                  <a:lnTo>
                    <a:pt x="159004" y="2024380"/>
                  </a:lnTo>
                  <a:lnTo>
                    <a:pt x="146304" y="202438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028700" y="6172200"/>
            <a:ext cx="7680960" cy="480060"/>
            <a:chOff x="0" y="0"/>
            <a:chExt cx="10241280" cy="6400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241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1024128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B1F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Limite à 15 sauts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28700" y="6652260"/>
            <a:ext cx="7818120" cy="754380"/>
            <a:chOff x="0" y="0"/>
            <a:chExt cx="10424160" cy="10058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4241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935" r="0" b="-151935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1042416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 métrique 16 signifie « infini » : route inaccessible. Limite la propagation de boucles éventuelles.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280970" y="5961697"/>
            <a:ext cx="8239125" cy="1518285"/>
            <a:chOff x="0" y="0"/>
            <a:chExt cx="10985500" cy="202438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6350" y="6350"/>
              <a:ext cx="109728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011680"/>
                  </a:lnTo>
                  <a:lnTo>
                    <a:pt x="0" y="2011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985500" cy="2024380"/>
            </a:xfrm>
            <a:custGeom>
              <a:avLst/>
              <a:gdLst/>
              <a:ahLst/>
              <a:cxnLst/>
              <a:rect r="r" b="b" t="t" l="l"/>
              <a:pathLst>
                <a:path h="2024380" w="10985500">
                  <a:moveTo>
                    <a:pt x="6350" y="0"/>
                  </a:moveTo>
                  <a:lnTo>
                    <a:pt x="10979150" y="0"/>
                  </a:lnTo>
                  <a:cubicBezTo>
                    <a:pt x="10982706" y="0"/>
                    <a:pt x="10985500" y="2794"/>
                    <a:pt x="10985500" y="6350"/>
                  </a:cubicBezTo>
                  <a:lnTo>
                    <a:pt x="10985500" y="2018030"/>
                  </a:lnTo>
                  <a:cubicBezTo>
                    <a:pt x="10985500" y="2021586"/>
                    <a:pt x="10982706" y="2024380"/>
                    <a:pt x="10979150" y="2024380"/>
                  </a:cubicBezTo>
                  <a:lnTo>
                    <a:pt x="6350" y="2024380"/>
                  </a:lnTo>
                  <a:cubicBezTo>
                    <a:pt x="2794" y="2024380"/>
                    <a:pt x="0" y="2021586"/>
                    <a:pt x="0" y="201803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2018030"/>
                  </a:lnTo>
                  <a:lnTo>
                    <a:pt x="6350" y="2018030"/>
                  </a:lnTo>
                  <a:lnTo>
                    <a:pt x="6350" y="2011680"/>
                  </a:lnTo>
                  <a:lnTo>
                    <a:pt x="10979150" y="2011680"/>
                  </a:lnTo>
                  <a:lnTo>
                    <a:pt x="10979150" y="2018030"/>
                  </a:lnTo>
                  <a:lnTo>
                    <a:pt x="10972800" y="2018030"/>
                  </a:lnTo>
                  <a:lnTo>
                    <a:pt x="10972800" y="6350"/>
                  </a:lnTo>
                  <a:lnTo>
                    <a:pt x="10979150" y="6350"/>
                  </a:lnTo>
                  <a:lnTo>
                    <a:pt x="1097915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276207" y="5956935"/>
            <a:ext cx="128778" cy="1527810"/>
            <a:chOff x="0" y="0"/>
            <a:chExt cx="171704" cy="203708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12700" y="12700"/>
              <a:ext cx="146304" cy="2011680"/>
            </a:xfrm>
            <a:custGeom>
              <a:avLst/>
              <a:gdLst/>
              <a:ahLst/>
              <a:cxnLst/>
              <a:rect r="r" b="b" t="t" l="l"/>
              <a:pathLst>
                <a:path h="20116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011680"/>
                  </a:lnTo>
                  <a:lnTo>
                    <a:pt x="0" y="2011680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71704" cy="2037080"/>
            </a:xfrm>
            <a:custGeom>
              <a:avLst/>
              <a:gdLst/>
              <a:ahLst/>
              <a:cxnLst/>
              <a:rect r="r" b="b" t="t" l="l"/>
              <a:pathLst>
                <a:path h="203708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2024380"/>
                  </a:lnTo>
                  <a:cubicBezTo>
                    <a:pt x="171704" y="2031365"/>
                    <a:pt x="165989" y="2037080"/>
                    <a:pt x="159004" y="2037080"/>
                  </a:cubicBezTo>
                  <a:lnTo>
                    <a:pt x="12700" y="2037080"/>
                  </a:lnTo>
                  <a:cubicBezTo>
                    <a:pt x="5715" y="2037080"/>
                    <a:pt x="0" y="2031365"/>
                    <a:pt x="0" y="20243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024380"/>
                  </a:lnTo>
                  <a:lnTo>
                    <a:pt x="12700" y="2024380"/>
                  </a:lnTo>
                  <a:lnTo>
                    <a:pt x="12700" y="2011680"/>
                  </a:lnTo>
                  <a:lnTo>
                    <a:pt x="159004" y="2011680"/>
                  </a:lnTo>
                  <a:lnTo>
                    <a:pt x="159004" y="2024380"/>
                  </a:lnTo>
                  <a:lnTo>
                    <a:pt x="146304" y="202438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9628632" y="6172200"/>
            <a:ext cx="7680960" cy="480060"/>
            <a:chOff x="0" y="0"/>
            <a:chExt cx="10241280" cy="64008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241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1024128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B1F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Split Horizon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9628632" y="6652260"/>
            <a:ext cx="7818120" cy="754380"/>
            <a:chOff x="0" y="0"/>
            <a:chExt cx="10424160" cy="10058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4241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935" r="0" b="-151935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28575"/>
              <a:ext cx="1042416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 routeur n'annonce pas une route via l'interface par laquelle il l'a apprise.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681038" y="7676197"/>
            <a:ext cx="8239125" cy="1518285"/>
            <a:chOff x="0" y="0"/>
            <a:chExt cx="10985500" cy="202438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6350" y="6350"/>
              <a:ext cx="109728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011680"/>
                  </a:lnTo>
                  <a:lnTo>
                    <a:pt x="0" y="2011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985500" cy="2024380"/>
            </a:xfrm>
            <a:custGeom>
              <a:avLst/>
              <a:gdLst/>
              <a:ahLst/>
              <a:cxnLst/>
              <a:rect r="r" b="b" t="t" l="l"/>
              <a:pathLst>
                <a:path h="2024380" w="10985500">
                  <a:moveTo>
                    <a:pt x="6350" y="0"/>
                  </a:moveTo>
                  <a:lnTo>
                    <a:pt x="10979150" y="0"/>
                  </a:lnTo>
                  <a:cubicBezTo>
                    <a:pt x="10982706" y="0"/>
                    <a:pt x="10985500" y="2794"/>
                    <a:pt x="10985500" y="6350"/>
                  </a:cubicBezTo>
                  <a:lnTo>
                    <a:pt x="10985500" y="2018030"/>
                  </a:lnTo>
                  <a:cubicBezTo>
                    <a:pt x="10985500" y="2021586"/>
                    <a:pt x="10982706" y="2024380"/>
                    <a:pt x="10979150" y="2024380"/>
                  </a:cubicBezTo>
                  <a:lnTo>
                    <a:pt x="6350" y="2024380"/>
                  </a:lnTo>
                  <a:cubicBezTo>
                    <a:pt x="2794" y="2024380"/>
                    <a:pt x="0" y="2021586"/>
                    <a:pt x="0" y="201803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2018030"/>
                  </a:lnTo>
                  <a:lnTo>
                    <a:pt x="6350" y="2018030"/>
                  </a:lnTo>
                  <a:lnTo>
                    <a:pt x="6350" y="2011680"/>
                  </a:lnTo>
                  <a:lnTo>
                    <a:pt x="10979150" y="2011680"/>
                  </a:lnTo>
                  <a:lnTo>
                    <a:pt x="10979150" y="2018030"/>
                  </a:lnTo>
                  <a:lnTo>
                    <a:pt x="10972800" y="2018030"/>
                  </a:lnTo>
                  <a:lnTo>
                    <a:pt x="10972800" y="6350"/>
                  </a:lnTo>
                  <a:lnTo>
                    <a:pt x="10979150" y="6350"/>
                  </a:lnTo>
                  <a:lnTo>
                    <a:pt x="1097915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676275" y="7671435"/>
            <a:ext cx="128778" cy="1527810"/>
            <a:chOff x="0" y="0"/>
            <a:chExt cx="171704" cy="203708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12700" y="12700"/>
              <a:ext cx="146304" cy="2011680"/>
            </a:xfrm>
            <a:custGeom>
              <a:avLst/>
              <a:gdLst/>
              <a:ahLst/>
              <a:cxnLst/>
              <a:rect r="r" b="b" t="t" l="l"/>
              <a:pathLst>
                <a:path h="20116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011680"/>
                  </a:lnTo>
                  <a:lnTo>
                    <a:pt x="0" y="2011680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71704" cy="2037080"/>
            </a:xfrm>
            <a:custGeom>
              <a:avLst/>
              <a:gdLst/>
              <a:ahLst/>
              <a:cxnLst/>
              <a:rect r="r" b="b" t="t" l="l"/>
              <a:pathLst>
                <a:path h="203708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2024380"/>
                  </a:lnTo>
                  <a:cubicBezTo>
                    <a:pt x="171704" y="2031365"/>
                    <a:pt x="165989" y="2037080"/>
                    <a:pt x="159004" y="2037080"/>
                  </a:cubicBezTo>
                  <a:lnTo>
                    <a:pt x="12700" y="2037080"/>
                  </a:lnTo>
                  <a:cubicBezTo>
                    <a:pt x="5715" y="2037080"/>
                    <a:pt x="0" y="2031365"/>
                    <a:pt x="0" y="20243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024380"/>
                  </a:lnTo>
                  <a:lnTo>
                    <a:pt x="12700" y="2024380"/>
                  </a:lnTo>
                  <a:lnTo>
                    <a:pt x="12700" y="2011680"/>
                  </a:lnTo>
                  <a:lnTo>
                    <a:pt x="159004" y="2011680"/>
                  </a:lnTo>
                  <a:lnTo>
                    <a:pt x="159004" y="2024380"/>
                  </a:lnTo>
                  <a:lnTo>
                    <a:pt x="146304" y="202438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028700" y="7886700"/>
            <a:ext cx="7680960" cy="480060"/>
            <a:chOff x="0" y="0"/>
            <a:chExt cx="10241280" cy="64008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0241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9525"/>
              <a:ext cx="1024128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B1F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Poison Reverse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028700" y="8366760"/>
            <a:ext cx="7818120" cy="754380"/>
            <a:chOff x="0" y="0"/>
            <a:chExt cx="10424160" cy="10058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04241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935" r="0" b="-151935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28575"/>
              <a:ext cx="1042416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 routeur annonce explicitement la route avec une métrique de 16 sur l'interface d'apprentissage.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9280970" y="7676197"/>
            <a:ext cx="8239125" cy="1518285"/>
            <a:chOff x="0" y="0"/>
            <a:chExt cx="10985500" cy="202438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6350" y="6350"/>
              <a:ext cx="109728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011680"/>
                  </a:lnTo>
                  <a:lnTo>
                    <a:pt x="0" y="2011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0985500" cy="2024380"/>
            </a:xfrm>
            <a:custGeom>
              <a:avLst/>
              <a:gdLst/>
              <a:ahLst/>
              <a:cxnLst/>
              <a:rect r="r" b="b" t="t" l="l"/>
              <a:pathLst>
                <a:path h="2024380" w="10985500">
                  <a:moveTo>
                    <a:pt x="6350" y="0"/>
                  </a:moveTo>
                  <a:lnTo>
                    <a:pt x="10979150" y="0"/>
                  </a:lnTo>
                  <a:cubicBezTo>
                    <a:pt x="10982706" y="0"/>
                    <a:pt x="10985500" y="2794"/>
                    <a:pt x="10985500" y="6350"/>
                  </a:cubicBezTo>
                  <a:lnTo>
                    <a:pt x="10985500" y="2018030"/>
                  </a:lnTo>
                  <a:cubicBezTo>
                    <a:pt x="10985500" y="2021586"/>
                    <a:pt x="10982706" y="2024380"/>
                    <a:pt x="10979150" y="2024380"/>
                  </a:cubicBezTo>
                  <a:lnTo>
                    <a:pt x="6350" y="2024380"/>
                  </a:lnTo>
                  <a:cubicBezTo>
                    <a:pt x="2794" y="2024380"/>
                    <a:pt x="0" y="2021586"/>
                    <a:pt x="0" y="201803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2018030"/>
                  </a:lnTo>
                  <a:lnTo>
                    <a:pt x="6350" y="2018030"/>
                  </a:lnTo>
                  <a:lnTo>
                    <a:pt x="6350" y="2011680"/>
                  </a:lnTo>
                  <a:lnTo>
                    <a:pt x="10979150" y="2011680"/>
                  </a:lnTo>
                  <a:lnTo>
                    <a:pt x="10979150" y="2018030"/>
                  </a:lnTo>
                  <a:lnTo>
                    <a:pt x="10972800" y="2018030"/>
                  </a:lnTo>
                  <a:lnTo>
                    <a:pt x="10972800" y="6350"/>
                  </a:lnTo>
                  <a:lnTo>
                    <a:pt x="10979150" y="6350"/>
                  </a:lnTo>
                  <a:lnTo>
                    <a:pt x="1097915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9276207" y="7671435"/>
            <a:ext cx="128778" cy="1527810"/>
            <a:chOff x="0" y="0"/>
            <a:chExt cx="171704" cy="203708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12700" y="12700"/>
              <a:ext cx="146304" cy="2011680"/>
            </a:xfrm>
            <a:custGeom>
              <a:avLst/>
              <a:gdLst/>
              <a:ahLst/>
              <a:cxnLst/>
              <a:rect r="r" b="b" t="t" l="l"/>
              <a:pathLst>
                <a:path h="20116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011680"/>
                  </a:lnTo>
                  <a:lnTo>
                    <a:pt x="0" y="2011680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71704" cy="2037080"/>
            </a:xfrm>
            <a:custGeom>
              <a:avLst/>
              <a:gdLst/>
              <a:ahLst/>
              <a:cxnLst/>
              <a:rect r="r" b="b" t="t" l="l"/>
              <a:pathLst>
                <a:path h="203708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2024380"/>
                  </a:lnTo>
                  <a:cubicBezTo>
                    <a:pt x="171704" y="2031365"/>
                    <a:pt x="165989" y="2037080"/>
                    <a:pt x="159004" y="2037080"/>
                  </a:cubicBezTo>
                  <a:lnTo>
                    <a:pt x="12700" y="2037080"/>
                  </a:lnTo>
                  <a:cubicBezTo>
                    <a:pt x="5715" y="2037080"/>
                    <a:pt x="0" y="2031365"/>
                    <a:pt x="0" y="20243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024380"/>
                  </a:lnTo>
                  <a:lnTo>
                    <a:pt x="12700" y="2024380"/>
                  </a:lnTo>
                  <a:lnTo>
                    <a:pt x="12700" y="2011680"/>
                  </a:lnTo>
                  <a:lnTo>
                    <a:pt x="159004" y="2011680"/>
                  </a:lnTo>
                  <a:lnTo>
                    <a:pt x="159004" y="2024380"/>
                  </a:lnTo>
                  <a:lnTo>
                    <a:pt x="146304" y="202438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9628632" y="7886700"/>
            <a:ext cx="7680960" cy="480060"/>
            <a:chOff x="0" y="0"/>
            <a:chExt cx="10241280" cy="64008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0241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9525"/>
              <a:ext cx="1024128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B1F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Triggered Updates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9628632" y="8366760"/>
            <a:ext cx="7818120" cy="754380"/>
            <a:chOff x="0" y="0"/>
            <a:chExt cx="10424160" cy="100584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04241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935" r="0" b="-151935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28575"/>
              <a:ext cx="1042416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 cas de changement, mise à jour immédiate sans attendre le timer de 30 s.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678656" y="9662636"/>
            <a:ext cx="16884968" cy="14288"/>
            <a:chOff x="0" y="0"/>
            <a:chExt cx="22513290" cy="1905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9525" y="0"/>
              <a:ext cx="22494239" cy="19050"/>
            </a:xfrm>
            <a:custGeom>
              <a:avLst/>
              <a:gdLst/>
              <a:ahLst/>
              <a:cxnLst/>
              <a:rect r="r" b="b" t="t" l="l"/>
              <a:pathLst>
                <a:path h="1905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685800" y="9738360"/>
            <a:ext cx="10972800" cy="411480"/>
            <a:chOff x="0" y="0"/>
            <a:chExt cx="14630400" cy="5486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RIP — Routing Information Protocol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6184880" y="9738360"/>
            <a:ext cx="1371600" cy="411480"/>
            <a:chOff x="0" y="0"/>
            <a:chExt cx="1828800" cy="54864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 / 12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80060"/>
            <a:ext cx="16870680" cy="822960"/>
            <a:chOff x="0" y="0"/>
            <a:chExt cx="2249424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942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4942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1F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Démonstration Packet Tracer — topologie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1303020"/>
            <a:ext cx="16870680" cy="480060"/>
            <a:chOff x="0" y="0"/>
            <a:chExt cx="22494240" cy="640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94239" cy="640080"/>
            </a:xfrm>
            <a:custGeom>
              <a:avLst/>
              <a:gdLst/>
              <a:ahLst/>
              <a:cxnLst/>
              <a:rect r="r" b="b" t="t" l="l"/>
              <a:pathLst>
                <a:path h="6400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4759" r="0" b="-63475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24942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1C729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Notre maquette de test : 3 routeurs et 3 réseaux LAN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76275" y="1910715"/>
            <a:ext cx="704850" cy="101346"/>
            <a:chOff x="0" y="0"/>
            <a:chExt cx="939800" cy="135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" y="12700"/>
              <a:ext cx="914400" cy="109728"/>
            </a:xfrm>
            <a:custGeom>
              <a:avLst/>
              <a:gdLst/>
              <a:ahLst/>
              <a:cxnLst/>
              <a:rect r="r" b="b" t="t" l="l"/>
              <a:pathLst>
                <a:path h="109728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9800" cy="135128"/>
            </a:xfrm>
            <a:custGeom>
              <a:avLst/>
              <a:gdLst/>
              <a:ahLst/>
              <a:cxnLst/>
              <a:rect r="r" b="b" t="t" l="l"/>
              <a:pathLst>
                <a:path h="135128" w="939800">
                  <a:moveTo>
                    <a:pt x="12700" y="0"/>
                  </a:moveTo>
                  <a:lnTo>
                    <a:pt x="927100" y="0"/>
                  </a:lnTo>
                  <a:cubicBezTo>
                    <a:pt x="934085" y="0"/>
                    <a:pt x="939800" y="5715"/>
                    <a:pt x="939800" y="12700"/>
                  </a:cubicBezTo>
                  <a:lnTo>
                    <a:pt x="939800" y="122428"/>
                  </a:lnTo>
                  <a:cubicBezTo>
                    <a:pt x="939800" y="129413"/>
                    <a:pt x="934085" y="135128"/>
                    <a:pt x="927100" y="135128"/>
                  </a:cubicBezTo>
                  <a:lnTo>
                    <a:pt x="12700" y="135128"/>
                  </a:lnTo>
                  <a:cubicBezTo>
                    <a:pt x="5715" y="135128"/>
                    <a:pt x="0" y="129413"/>
                    <a:pt x="0" y="12242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2428"/>
                  </a:lnTo>
                  <a:lnTo>
                    <a:pt x="12700" y="122428"/>
                  </a:lnTo>
                  <a:lnTo>
                    <a:pt x="12700" y="109728"/>
                  </a:lnTo>
                  <a:lnTo>
                    <a:pt x="927100" y="109728"/>
                  </a:lnTo>
                  <a:lnTo>
                    <a:pt x="927100" y="122428"/>
                  </a:lnTo>
                  <a:lnTo>
                    <a:pt x="914400" y="122428"/>
                  </a:lnTo>
                  <a:lnTo>
                    <a:pt x="914400" y="12700"/>
                  </a:lnTo>
                  <a:lnTo>
                    <a:pt x="927100" y="12700"/>
                  </a:lnTo>
                  <a:lnTo>
                    <a:pt x="9271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30704" y="2326958"/>
            <a:ext cx="12018458" cy="7073265"/>
            <a:chOff x="0" y="0"/>
            <a:chExt cx="16024611" cy="94310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541" y="6350"/>
              <a:ext cx="16011530" cy="9418320"/>
            </a:xfrm>
            <a:custGeom>
              <a:avLst/>
              <a:gdLst/>
              <a:ahLst/>
              <a:cxnLst/>
              <a:rect r="r" b="b" t="t" l="l"/>
              <a:pathLst>
                <a:path h="9418320" w="16011530">
                  <a:moveTo>
                    <a:pt x="0" y="0"/>
                  </a:moveTo>
                  <a:lnTo>
                    <a:pt x="16011529" y="0"/>
                  </a:lnTo>
                  <a:lnTo>
                    <a:pt x="16011529" y="9418320"/>
                  </a:lnTo>
                  <a:lnTo>
                    <a:pt x="0" y="9418320"/>
                  </a:lnTo>
                  <a:close/>
                </a:path>
              </a:pathLst>
            </a:custGeom>
            <a:blipFill>
              <a:blip r:embed="rId3"/>
              <a:stretch>
                <a:fillRect l="-7551" t="-67" r="-7549" b="-67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024611" cy="9431020"/>
            </a:xfrm>
            <a:custGeom>
              <a:avLst/>
              <a:gdLst/>
              <a:ahLst/>
              <a:cxnLst/>
              <a:rect r="r" b="b" t="t" l="l"/>
              <a:pathLst>
                <a:path h="9431020" w="16024611">
                  <a:moveTo>
                    <a:pt x="6541" y="0"/>
                  </a:moveTo>
                  <a:lnTo>
                    <a:pt x="16018070" y="0"/>
                  </a:lnTo>
                  <a:cubicBezTo>
                    <a:pt x="16021734" y="0"/>
                    <a:pt x="16024611" y="2794"/>
                    <a:pt x="16024611" y="6350"/>
                  </a:cubicBezTo>
                  <a:lnTo>
                    <a:pt x="16024611" y="9424670"/>
                  </a:lnTo>
                  <a:cubicBezTo>
                    <a:pt x="16024611" y="9428226"/>
                    <a:pt x="16021734" y="9431020"/>
                    <a:pt x="16018070" y="9431020"/>
                  </a:cubicBezTo>
                  <a:lnTo>
                    <a:pt x="6541" y="9431020"/>
                  </a:lnTo>
                  <a:cubicBezTo>
                    <a:pt x="2878" y="9431020"/>
                    <a:pt x="0" y="9428226"/>
                    <a:pt x="0" y="9424670"/>
                  </a:cubicBezTo>
                  <a:lnTo>
                    <a:pt x="0" y="6350"/>
                  </a:lnTo>
                  <a:cubicBezTo>
                    <a:pt x="0" y="2794"/>
                    <a:pt x="2878" y="0"/>
                    <a:pt x="6541" y="0"/>
                  </a:cubicBezTo>
                  <a:moveTo>
                    <a:pt x="6541" y="12700"/>
                  </a:moveTo>
                  <a:lnTo>
                    <a:pt x="6541" y="6350"/>
                  </a:lnTo>
                  <a:lnTo>
                    <a:pt x="13081" y="6350"/>
                  </a:lnTo>
                  <a:lnTo>
                    <a:pt x="13081" y="9424670"/>
                  </a:lnTo>
                  <a:lnTo>
                    <a:pt x="6541" y="9424670"/>
                  </a:lnTo>
                  <a:lnTo>
                    <a:pt x="6541" y="9418320"/>
                  </a:lnTo>
                  <a:lnTo>
                    <a:pt x="16018070" y="9418320"/>
                  </a:lnTo>
                  <a:lnTo>
                    <a:pt x="16018070" y="9424670"/>
                  </a:lnTo>
                  <a:lnTo>
                    <a:pt x="16011530" y="9424670"/>
                  </a:lnTo>
                  <a:lnTo>
                    <a:pt x="16011530" y="6350"/>
                  </a:lnTo>
                  <a:lnTo>
                    <a:pt x="16018070" y="6350"/>
                  </a:lnTo>
                  <a:lnTo>
                    <a:pt x="16018070" y="12700"/>
                  </a:lnTo>
                  <a:lnTo>
                    <a:pt x="6541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505575" y="2802255"/>
            <a:ext cx="19050" cy="224790"/>
            <a:chOff x="0" y="0"/>
            <a:chExt cx="25400" cy="299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12700"/>
              <a:ext cx="254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">
                  <a:moveTo>
                    <a:pt x="25400" y="177800"/>
                  </a:moveTo>
                  <a:lnTo>
                    <a:pt x="25400" y="254000"/>
                  </a:lnTo>
                  <a:lnTo>
                    <a:pt x="0" y="254000"/>
                  </a:lnTo>
                  <a:lnTo>
                    <a:pt x="0" y="177800"/>
                  </a:lnTo>
                  <a:close/>
                  <a:moveTo>
                    <a:pt x="25400" y="0"/>
                  </a:moveTo>
                  <a:lnTo>
                    <a:pt x="254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609195" y="2322195"/>
            <a:ext cx="4956810" cy="7082790"/>
            <a:chOff x="0" y="0"/>
            <a:chExt cx="6609080" cy="94437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2700" y="12700"/>
              <a:ext cx="6583680" cy="9418320"/>
            </a:xfrm>
            <a:custGeom>
              <a:avLst/>
              <a:gdLst/>
              <a:ahLst/>
              <a:cxnLst/>
              <a:rect r="r" b="b" t="t" l="l"/>
              <a:pathLst>
                <a:path h="94183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418320"/>
                  </a:lnTo>
                  <a:lnTo>
                    <a:pt x="0" y="9418320"/>
                  </a:lnTo>
                  <a:close/>
                </a:path>
              </a:pathLst>
            </a:custGeom>
            <a:solidFill>
              <a:srgbClr val="0B1F3A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609080" cy="9443720"/>
            </a:xfrm>
            <a:custGeom>
              <a:avLst/>
              <a:gdLst/>
              <a:ahLst/>
              <a:cxnLst/>
              <a:rect r="r" b="b" t="t" l="l"/>
              <a:pathLst>
                <a:path h="9443720" w="6609080">
                  <a:moveTo>
                    <a:pt x="12700" y="0"/>
                  </a:moveTo>
                  <a:lnTo>
                    <a:pt x="6596380" y="0"/>
                  </a:lnTo>
                  <a:cubicBezTo>
                    <a:pt x="6603365" y="0"/>
                    <a:pt x="6609080" y="5715"/>
                    <a:pt x="6609080" y="12700"/>
                  </a:cubicBezTo>
                  <a:lnTo>
                    <a:pt x="6609080" y="9431020"/>
                  </a:lnTo>
                  <a:cubicBezTo>
                    <a:pt x="6609080" y="9438005"/>
                    <a:pt x="6603365" y="9443720"/>
                    <a:pt x="6596380" y="9443720"/>
                  </a:cubicBezTo>
                  <a:lnTo>
                    <a:pt x="12700" y="9443720"/>
                  </a:lnTo>
                  <a:cubicBezTo>
                    <a:pt x="5715" y="9443720"/>
                    <a:pt x="0" y="9438005"/>
                    <a:pt x="0" y="94310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431020"/>
                  </a:lnTo>
                  <a:lnTo>
                    <a:pt x="12700" y="9431020"/>
                  </a:lnTo>
                  <a:lnTo>
                    <a:pt x="12700" y="9418320"/>
                  </a:lnTo>
                  <a:lnTo>
                    <a:pt x="6596380" y="9418320"/>
                  </a:lnTo>
                  <a:lnTo>
                    <a:pt x="6596380" y="9431020"/>
                  </a:lnTo>
                  <a:lnTo>
                    <a:pt x="6583680" y="9431020"/>
                  </a:lnTo>
                  <a:lnTo>
                    <a:pt x="6583680" y="12700"/>
                  </a:lnTo>
                  <a:lnTo>
                    <a:pt x="6596380" y="12700"/>
                  </a:lnTo>
                  <a:lnTo>
                    <a:pt x="65963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893040" y="2537460"/>
            <a:ext cx="4663440" cy="411480"/>
            <a:chOff x="0" y="0"/>
            <a:chExt cx="621792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17920" cy="548640"/>
            </a:xfrm>
            <a:custGeom>
              <a:avLst/>
              <a:gdLst/>
              <a:ahLst/>
              <a:cxnLst/>
              <a:rect r="r" b="b" t="t" l="l"/>
              <a:pathLst>
                <a:path h="5486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62179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50">
                  <a:solidFill>
                    <a:srgbClr val="22D3EE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CONFIGURATION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893040" y="3017520"/>
            <a:ext cx="4663440" cy="480060"/>
            <a:chOff x="0" y="0"/>
            <a:chExt cx="6217920" cy="640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621792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Cisco IOS — Routeur R1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78656" y="9662636"/>
            <a:ext cx="16884968" cy="14288"/>
            <a:chOff x="0" y="0"/>
            <a:chExt cx="22513290" cy="190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9525" y="0"/>
              <a:ext cx="22494239" cy="19050"/>
            </a:xfrm>
            <a:custGeom>
              <a:avLst/>
              <a:gdLst/>
              <a:ahLst/>
              <a:cxnLst/>
              <a:rect r="r" b="b" t="t" l="l"/>
              <a:pathLst>
                <a:path h="1905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85800" y="9738360"/>
            <a:ext cx="10972800" cy="411480"/>
            <a:chOff x="0" y="0"/>
            <a:chExt cx="14630400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RIP — Routing Information Protocol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184880" y="9738360"/>
            <a:ext cx="1371600" cy="411480"/>
            <a:chOff x="0" y="0"/>
            <a:chExt cx="1828800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/ 12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2893040" y="3665220"/>
            <a:ext cx="4663440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R1&gt; enable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R1# configure terminal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R1(config)# router rip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R1(config-router)# version 2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R1(config-router)# no auto-summary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R1(config-router)# network 10.1.1.0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R1(config-router)# network 192.168.12.0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R1(config-router)# network 192.168.13.0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R1(config-router)# end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R1# show ip route rip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80060"/>
            <a:ext cx="16870680" cy="822960"/>
            <a:chOff x="0" y="0"/>
            <a:chExt cx="2249424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942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4942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1F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Limites &amp; inconvénients de RIP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1303020"/>
            <a:ext cx="16870680" cy="480060"/>
            <a:chOff x="0" y="0"/>
            <a:chExt cx="22494240" cy="640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94239" cy="640080"/>
            </a:xfrm>
            <a:custGeom>
              <a:avLst/>
              <a:gdLst/>
              <a:ahLst/>
              <a:cxnLst/>
              <a:rect r="r" b="b" t="t" l="l"/>
              <a:pathLst>
                <a:path h="6400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4759" r="0" b="-63475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24942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1C729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Comment </a:t>
              </a:r>
              <a:r>
                <a:rPr lang="en-US" sz="2100" i="true">
                  <a:solidFill>
                    <a:srgbClr val="1C729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le protocole montre ses limites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76275" y="1910715"/>
            <a:ext cx="704850" cy="101346"/>
            <a:chOff x="0" y="0"/>
            <a:chExt cx="939800" cy="135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" y="12700"/>
              <a:ext cx="914400" cy="109728"/>
            </a:xfrm>
            <a:custGeom>
              <a:avLst/>
              <a:gdLst/>
              <a:ahLst/>
              <a:cxnLst/>
              <a:rect r="r" b="b" t="t" l="l"/>
              <a:pathLst>
                <a:path h="109728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9800" cy="135128"/>
            </a:xfrm>
            <a:custGeom>
              <a:avLst/>
              <a:gdLst/>
              <a:ahLst/>
              <a:cxnLst/>
              <a:rect r="r" b="b" t="t" l="l"/>
              <a:pathLst>
                <a:path h="135128" w="939800">
                  <a:moveTo>
                    <a:pt x="12700" y="0"/>
                  </a:moveTo>
                  <a:lnTo>
                    <a:pt x="927100" y="0"/>
                  </a:lnTo>
                  <a:cubicBezTo>
                    <a:pt x="934085" y="0"/>
                    <a:pt x="939800" y="5715"/>
                    <a:pt x="939800" y="12700"/>
                  </a:cubicBezTo>
                  <a:lnTo>
                    <a:pt x="939800" y="122428"/>
                  </a:lnTo>
                  <a:cubicBezTo>
                    <a:pt x="939800" y="129413"/>
                    <a:pt x="934085" y="135128"/>
                    <a:pt x="927100" y="135128"/>
                  </a:cubicBezTo>
                  <a:lnTo>
                    <a:pt x="12700" y="135128"/>
                  </a:lnTo>
                  <a:cubicBezTo>
                    <a:pt x="5715" y="135128"/>
                    <a:pt x="0" y="129413"/>
                    <a:pt x="0" y="12242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2428"/>
                  </a:lnTo>
                  <a:lnTo>
                    <a:pt x="12700" y="122428"/>
                  </a:lnTo>
                  <a:lnTo>
                    <a:pt x="12700" y="109728"/>
                  </a:lnTo>
                  <a:lnTo>
                    <a:pt x="927100" y="109728"/>
                  </a:lnTo>
                  <a:lnTo>
                    <a:pt x="927100" y="122428"/>
                  </a:lnTo>
                  <a:lnTo>
                    <a:pt x="914400" y="122428"/>
                  </a:lnTo>
                  <a:lnTo>
                    <a:pt x="914400" y="12700"/>
                  </a:lnTo>
                  <a:lnTo>
                    <a:pt x="927100" y="12700"/>
                  </a:lnTo>
                  <a:lnTo>
                    <a:pt x="9271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81038" y="2532698"/>
            <a:ext cx="5564505" cy="3232785"/>
            <a:chOff x="0" y="0"/>
            <a:chExt cx="7419340" cy="43103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7406640" cy="4297680"/>
            </a:xfrm>
            <a:custGeom>
              <a:avLst/>
              <a:gdLst/>
              <a:ahLst/>
              <a:cxnLst/>
              <a:rect r="r" b="b" t="t" l="l"/>
              <a:pathLst>
                <a:path h="42976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4297680"/>
                  </a:lnTo>
                  <a:lnTo>
                    <a:pt x="0" y="42976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19340" cy="4310380"/>
            </a:xfrm>
            <a:custGeom>
              <a:avLst/>
              <a:gdLst/>
              <a:ahLst/>
              <a:cxnLst/>
              <a:rect r="r" b="b" t="t" l="l"/>
              <a:pathLst>
                <a:path h="4310380" w="7419340">
                  <a:moveTo>
                    <a:pt x="6350" y="0"/>
                  </a:moveTo>
                  <a:lnTo>
                    <a:pt x="7412990" y="0"/>
                  </a:lnTo>
                  <a:cubicBezTo>
                    <a:pt x="7416547" y="0"/>
                    <a:pt x="7419340" y="2794"/>
                    <a:pt x="7419340" y="6350"/>
                  </a:cubicBezTo>
                  <a:lnTo>
                    <a:pt x="7419340" y="4304030"/>
                  </a:lnTo>
                  <a:cubicBezTo>
                    <a:pt x="7419340" y="4307586"/>
                    <a:pt x="7416547" y="4310380"/>
                    <a:pt x="7412990" y="4310380"/>
                  </a:cubicBezTo>
                  <a:lnTo>
                    <a:pt x="6350" y="4310380"/>
                  </a:lnTo>
                  <a:cubicBezTo>
                    <a:pt x="2794" y="4310380"/>
                    <a:pt x="0" y="4307586"/>
                    <a:pt x="0" y="430403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4304030"/>
                  </a:lnTo>
                  <a:lnTo>
                    <a:pt x="6350" y="4304030"/>
                  </a:lnTo>
                  <a:lnTo>
                    <a:pt x="6350" y="4297680"/>
                  </a:lnTo>
                  <a:lnTo>
                    <a:pt x="7412990" y="4297680"/>
                  </a:lnTo>
                  <a:lnTo>
                    <a:pt x="7412990" y="4304030"/>
                  </a:lnTo>
                  <a:lnTo>
                    <a:pt x="7406640" y="4304030"/>
                  </a:lnTo>
                  <a:lnTo>
                    <a:pt x="7406640" y="6350"/>
                  </a:lnTo>
                  <a:lnTo>
                    <a:pt x="7412990" y="6350"/>
                  </a:lnTo>
                  <a:lnTo>
                    <a:pt x="741299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19175" y="2870835"/>
            <a:ext cx="979170" cy="979170"/>
            <a:chOff x="0" y="0"/>
            <a:chExt cx="1305560" cy="13055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lnTo>
                    <a:pt x="652780" y="12700"/>
                  </a:lnTo>
                  <a:lnTo>
                    <a:pt x="652780" y="0"/>
                  </a:lnTo>
                  <a:cubicBezTo>
                    <a:pt x="1013333" y="0"/>
                    <a:pt x="1305560" y="292227"/>
                    <a:pt x="1305560" y="652780"/>
                  </a:cubicBezTo>
                  <a:lnTo>
                    <a:pt x="1292860" y="652780"/>
                  </a:lnTo>
                  <a:lnTo>
                    <a:pt x="1305560" y="652780"/>
                  </a:lnTo>
                  <a:cubicBezTo>
                    <a:pt x="1305560" y="1013333"/>
                    <a:pt x="1013333" y="1305560"/>
                    <a:pt x="652780" y="1305560"/>
                  </a:cubicBezTo>
                  <a:lnTo>
                    <a:pt x="652780" y="1292860"/>
                  </a:lnTo>
                  <a:lnTo>
                    <a:pt x="652780" y="1305560"/>
                  </a:lnTo>
                  <a:cubicBezTo>
                    <a:pt x="292227" y="1305560"/>
                    <a:pt x="0" y="1013333"/>
                    <a:pt x="0" y="652780"/>
                  </a:cubicBezTo>
                  <a:lnTo>
                    <a:pt x="12700" y="652780"/>
                  </a:lnTo>
                  <a:lnTo>
                    <a:pt x="25400" y="652780"/>
                  </a:lnTo>
                  <a:lnTo>
                    <a:pt x="12700" y="652780"/>
                  </a:lnTo>
                  <a:lnTo>
                    <a:pt x="0" y="652780"/>
                  </a:lnTo>
                  <a:moveTo>
                    <a:pt x="25400" y="652780"/>
                  </a:moveTo>
                  <a:cubicBezTo>
                    <a:pt x="25400" y="659765"/>
                    <a:pt x="19685" y="665480"/>
                    <a:pt x="12700" y="665480"/>
                  </a:cubicBezTo>
                  <a:cubicBezTo>
                    <a:pt x="5715" y="665480"/>
                    <a:pt x="0" y="659765"/>
                    <a:pt x="0" y="652780"/>
                  </a:cubicBezTo>
                  <a:cubicBezTo>
                    <a:pt x="0" y="645795"/>
                    <a:pt x="5715" y="640080"/>
                    <a:pt x="12700" y="640080"/>
                  </a:cubicBezTo>
                  <a:cubicBezTo>
                    <a:pt x="19685" y="640080"/>
                    <a:pt x="25400" y="645795"/>
                    <a:pt x="25400" y="652780"/>
                  </a:cubicBezTo>
                  <a:cubicBezTo>
                    <a:pt x="25400" y="999236"/>
                    <a:pt x="306324" y="1280160"/>
                    <a:pt x="652780" y="1280160"/>
                  </a:cubicBezTo>
                  <a:cubicBezTo>
                    <a:pt x="999236" y="1280160"/>
                    <a:pt x="1280160" y="999236"/>
                    <a:pt x="1280160" y="652780"/>
                  </a:cubicBezTo>
                  <a:cubicBezTo>
                    <a:pt x="1280160" y="306324"/>
                    <a:pt x="999236" y="25400"/>
                    <a:pt x="652780" y="25400"/>
                  </a:cubicBezTo>
                  <a:lnTo>
                    <a:pt x="652780" y="12700"/>
                  </a:lnTo>
                  <a:lnTo>
                    <a:pt x="652780" y="25400"/>
                  </a:lnTo>
                  <a:cubicBezTo>
                    <a:pt x="306324" y="25400"/>
                    <a:pt x="25400" y="306324"/>
                    <a:pt x="25400" y="652780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34440" y="3086100"/>
            <a:ext cx="548640" cy="548640"/>
            <a:chOff x="0" y="0"/>
            <a:chExt cx="731520" cy="73152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194560" y="2948940"/>
            <a:ext cx="3909060" cy="822960"/>
            <a:chOff x="0" y="0"/>
            <a:chExt cx="521208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212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52120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B1F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Métrique pauvre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28700" y="4046220"/>
            <a:ext cx="4937760" cy="1645920"/>
            <a:chOff x="0" y="0"/>
            <a:chExt cx="6583680" cy="21945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5836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6583680" cy="2223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Seul le nombre de sauts compte : un lien fibre 10 Gb/s et un lien série 64 kbps sont équivalents pour RIP.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537770" y="2532698"/>
            <a:ext cx="5564505" cy="3232785"/>
            <a:chOff x="0" y="0"/>
            <a:chExt cx="7419340" cy="43103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6350" y="6350"/>
              <a:ext cx="7406640" cy="4297680"/>
            </a:xfrm>
            <a:custGeom>
              <a:avLst/>
              <a:gdLst/>
              <a:ahLst/>
              <a:cxnLst/>
              <a:rect r="r" b="b" t="t" l="l"/>
              <a:pathLst>
                <a:path h="42976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4297680"/>
                  </a:lnTo>
                  <a:lnTo>
                    <a:pt x="0" y="42976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419340" cy="4310380"/>
            </a:xfrm>
            <a:custGeom>
              <a:avLst/>
              <a:gdLst/>
              <a:ahLst/>
              <a:cxnLst/>
              <a:rect r="r" b="b" t="t" l="l"/>
              <a:pathLst>
                <a:path h="4310380" w="7419340">
                  <a:moveTo>
                    <a:pt x="6350" y="0"/>
                  </a:moveTo>
                  <a:lnTo>
                    <a:pt x="7412990" y="0"/>
                  </a:lnTo>
                  <a:cubicBezTo>
                    <a:pt x="7416547" y="0"/>
                    <a:pt x="7419340" y="2794"/>
                    <a:pt x="7419340" y="6350"/>
                  </a:cubicBezTo>
                  <a:lnTo>
                    <a:pt x="7419340" y="4304030"/>
                  </a:lnTo>
                  <a:cubicBezTo>
                    <a:pt x="7419340" y="4307586"/>
                    <a:pt x="7416547" y="4310380"/>
                    <a:pt x="7412990" y="4310380"/>
                  </a:cubicBezTo>
                  <a:lnTo>
                    <a:pt x="6350" y="4310380"/>
                  </a:lnTo>
                  <a:cubicBezTo>
                    <a:pt x="2794" y="4310380"/>
                    <a:pt x="0" y="4307586"/>
                    <a:pt x="0" y="430403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4304030"/>
                  </a:lnTo>
                  <a:lnTo>
                    <a:pt x="6350" y="4304030"/>
                  </a:lnTo>
                  <a:lnTo>
                    <a:pt x="6350" y="4297680"/>
                  </a:lnTo>
                  <a:lnTo>
                    <a:pt x="7412990" y="4297680"/>
                  </a:lnTo>
                  <a:lnTo>
                    <a:pt x="7412990" y="4304030"/>
                  </a:lnTo>
                  <a:lnTo>
                    <a:pt x="7406640" y="4304030"/>
                  </a:lnTo>
                  <a:lnTo>
                    <a:pt x="7406640" y="6350"/>
                  </a:lnTo>
                  <a:lnTo>
                    <a:pt x="7412990" y="6350"/>
                  </a:lnTo>
                  <a:lnTo>
                    <a:pt x="741299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875907" y="2870835"/>
            <a:ext cx="979170" cy="979170"/>
            <a:chOff x="0" y="0"/>
            <a:chExt cx="1305560" cy="13055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2700" y="1270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lnTo>
                    <a:pt x="652780" y="12700"/>
                  </a:lnTo>
                  <a:lnTo>
                    <a:pt x="652780" y="0"/>
                  </a:lnTo>
                  <a:cubicBezTo>
                    <a:pt x="1013333" y="0"/>
                    <a:pt x="1305560" y="292227"/>
                    <a:pt x="1305560" y="652780"/>
                  </a:cubicBezTo>
                  <a:lnTo>
                    <a:pt x="1292860" y="652780"/>
                  </a:lnTo>
                  <a:lnTo>
                    <a:pt x="1305560" y="652780"/>
                  </a:lnTo>
                  <a:cubicBezTo>
                    <a:pt x="1305560" y="1013333"/>
                    <a:pt x="1013333" y="1305560"/>
                    <a:pt x="652780" y="1305560"/>
                  </a:cubicBezTo>
                  <a:lnTo>
                    <a:pt x="652780" y="1292860"/>
                  </a:lnTo>
                  <a:lnTo>
                    <a:pt x="652780" y="1305560"/>
                  </a:lnTo>
                  <a:cubicBezTo>
                    <a:pt x="292227" y="1305560"/>
                    <a:pt x="0" y="1013333"/>
                    <a:pt x="0" y="652780"/>
                  </a:cubicBezTo>
                  <a:lnTo>
                    <a:pt x="12700" y="652780"/>
                  </a:lnTo>
                  <a:lnTo>
                    <a:pt x="25400" y="652780"/>
                  </a:lnTo>
                  <a:lnTo>
                    <a:pt x="12700" y="652780"/>
                  </a:lnTo>
                  <a:lnTo>
                    <a:pt x="0" y="652780"/>
                  </a:lnTo>
                  <a:moveTo>
                    <a:pt x="25400" y="652780"/>
                  </a:moveTo>
                  <a:cubicBezTo>
                    <a:pt x="25400" y="659765"/>
                    <a:pt x="19685" y="665480"/>
                    <a:pt x="12700" y="665480"/>
                  </a:cubicBezTo>
                  <a:cubicBezTo>
                    <a:pt x="5715" y="665480"/>
                    <a:pt x="0" y="659765"/>
                    <a:pt x="0" y="652780"/>
                  </a:cubicBezTo>
                  <a:cubicBezTo>
                    <a:pt x="0" y="645795"/>
                    <a:pt x="5715" y="640080"/>
                    <a:pt x="12700" y="640080"/>
                  </a:cubicBezTo>
                  <a:cubicBezTo>
                    <a:pt x="19685" y="640080"/>
                    <a:pt x="25400" y="645795"/>
                    <a:pt x="25400" y="652780"/>
                  </a:cubicBezTo>
                  <a:cubicBezTo>
                    <a:pt x="25400" y="999236"/>
                    <a:pt x="306324" y="1280160"/>
                    <a:pt x="652780" y="1280160"/>
                  </a:cubicBezTo>
                  <a:cubicBezTo>
                    <a:pt x="999236" y="1280160"/>
                    <a:pt x="1280160" y="999236"/>
                    <a:pt x="1280160" y="652780"/>
                  </a:cubicBezTo>
                  <a:cubicBezTo>
                    <a:pt x="1280160" y="306324"/>
                    <a:pt x="999236" y="25400"/>
                    <a:pt x="652780" y="25400"/>
                  </a:cubicBezTo>
                  <a:lnTo>
                    <a:pt x="652780" y="12700"/>
                  </a:lnTo>
                  <a:lnTo>
                    <a:pt x="652780" y="25400"/>
                  </a:lnTo>
                  <a:cubicBezTo>
                    <a:pt x="306324" y="25400"/>
                    <a:pt x="25400" y="306324"/>
                    <a:pt x="25400" y="652780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7091172" y="3086100"/>
            <a:ext cx="548640" cy="548640"/>
            <a:chOff x="0" y="0"/>
            <a:chExt cx="731520" cy="731520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051292" y="2948940"/>
            <a:ext cx="3909060" cy="822960"/>
            <a:chOff x="0" y="0"/>
            <a:chExt cx="5212080" cy="10972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212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52120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B1F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Diamètre limité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885432" y="4046220"/>
            <a:ext cx="4937760" cy="1645920"/>
            <a:chOff x="0" y="0"/>
            <a:chExt cx="6583680" cy="21945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5836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6583680" cy="2223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Maximum de 15 sauts. Au-delà, le réseau est considéré inaccessible. Inutilisable pour Internet ou les grands AS.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81038" y="6030278"/>
            <a:ext cx="5564505" cy="3232785"/>
            <a:chOff x="0" y="0"/>
            <a:chExt cx="7419340" cy="43103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6350" y="6350"/>
              <a:ext cx="7406640" cy="4297680"/>
            </a:xfrm>
            <a:custGeom>
              <a:avLst/>
              <a:gdLst/>
              <a:ahLst/>
              <a:cxnLst/>
              <a:rect r="r" b="b" t="t" l="l"/>
              <a:pathLst>
                <a:path h="42976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4297680"/>
                  </a:lnTo>
                  <a:lnTo>
                    <a:pt x="0" y="42976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419340" cy="4310380"/>
            </a:xfrm>
            <a:custGeom>
              <a:avLst/>
              <a:gdLst/>
              <a:ahLst/>
              <a:cxnLst/>
              <a:rect r="r" b="b" t="t" l="l"/>
              <a:pathLst>
                <a:path h="4310380" w="7419340">
                  <a:moveTo>
                    <a:pt x="6350" y="0"/>
                  </a:moveTo>
                  <a:lnTo>
                    <a:pt x="7412990" y="0"/>
                  </a:lnTo>
                  <a:cubicBezTo>
                    <a:pt x="7416547" y="0"/>
                    <a:pt x="7419340" y="2794"/>
                    <a:pt x="7419340" y="6350"/>
                  </a:cubicBezTo>
                  <a:lnTo>
                    <a:pt x="7419340" y="4304030"/>
                  </a:lnTo>
                  <a:cubicBezTo>
                    <a:pt x="7419340" y="4307586"/>
                    <a:pt x="7416547" y="4310380"/>
                    <a:pt x="7412990" y="4310380"/>
                  </a:cubicBezTo>
                  <a:lnTo>
                    <a:pt x="6350" y="4310380"/>
                  </a:lnTo>
                  <a:cubicBezTo>
                    <a:pt x="2794" y="4310380"/>
                    <a:pt x="0" y="4307586"/>
                    <a:pt x="0" y="430403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4304030"/>
                  </a:lnTo>
                  <a:lnTo>
                    <a:pt x="6350" y="4304030"/>
                  </a:lnTo>
                  <a:lnTo>
                    <a:pt x="6350" y="4297680"/>
                  </a:lnTo>
                  <a:lnTo>
                    <a:pt x="7412990" y="4297680"/>
                  </a:lnTo>
                  <a:lnTo>
                    <a:pt x="7412990" y="4304030"/>
                  </a:lnTo>
                  <a:lnTo>
                    <a:pt x="7406640" y="4304030"/>
                  </a:lnTo>
                  <a:lnTo>
                    <a:pt x="7406640" y="6350"/>
                  </a:lnTo>
                  <a:lnTo>
                    <a:pt x="7412990" y="6350"/>
                  </a:lnTo>
                  <a:lnTo>
                    <a:pt x="741299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19175" y="6368415"/>
            <a:ext cx="979170" cy="979170"/>
            <a:chOff x="0" y="0"/>
            <a:chExt cx="1305560" cy="13055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2700" y="1270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lnTo>
                    <a:pt x="652780" y="12700"/>
                  </a:lnTo>
                  <a:lnTo>
                    <a:pt x="652780" y="0"/>
                  </a:lnTo>
                  <a:cubicBezTo>
                    <a:pt x="1013333" y="0"/>
                    <a:pt x="1305560" y="292227"/>
                    <a:pt x="1305560" y="652780"/>
                  </a:cubicBezTo>
                  <a:lnTo>
                    <a:pt x="1292860" y="652780"/>
                  </a:lnTo>
                  <a:lnTo>
                    <a:pt x="1305560" y="652780"/>
                  </a:lnTo>
                  <a:cubicBezTo>
                    <a:pt x="1305560" y="1013333"/>
                    <a:pt x="1013333" y="1305560"/>
                    <a:pt x="652780" y="1305560"/>
                  </a:cubicBezTo>
                  <a:lnTo>
                    <a:pt x="652780" y="1292860"/>
                  </a:lnTo>
                  <a:lnTo>
                    <a:pt x="652780" y="1305560"/>
                  </a:lnTo>
                  <a:cubicBezTo>
                    <a:pt x="292227" y="1305560"/>
                    <a:pt x="0" y="1013333"/>
                    <a:pt x="0" y="652780"/>
                  </a:cubicBezTo>
                  <a:lnTo>
                    <a:pt x="12700" y="652780"/>
                  </a:lnTo>
                  <a:lnTo>
                    <a:pt x="25400" y="652780"/>
                  </a:lnTo>
                  <a:lnTo>
                    <a:pt x="12700" y="652780"/>
                  </a:lnTo>
                  <a:lnTo>
                    <a:pt x="0" y="652780"/>
                  </a:lnTo>
                  <a:moveTo>
                    <a:pt x="25400" y="652780"/>
                  </a:moveTo>
                  <a:cubicBezTo>
                    <a:pt x="25400" y="659765"/>
                    <a:pt x="19685" y="665480"/>
                    <a:pt x="12700" y="665480"/>
                  </a:cubicBezTo>
                  <a:cubicBezTo>
                    <a:pt x="5715" y="665480"/>
                    <a:pt x="0" y="659765"/>
                    <a:pt x="0" y="652780"/>
                  </a:cubicBezTo>
                  <a:cubicBezTo>
                    <a:pt x="0" y="645795"/>
                    <a:pt x="5715" y="640080"/>
                    <a:pt x="12700" y="640080"/>
                  </a:cubicBezTo>
                  <a:cubicBezTo>
                    <a:pt x="19685" y="640080"/>
                    <a:pt x="25400" y="645795"/>
                    <a:pt x="25400" y="652780"/>
                  </a:cubicBezTo>
                  <a:cubicBezTo>
                    <a:pt x="25400" y="999236"/>
                    <a:pt x="306324" y="1280160"/>
                    <a:pt x="652780" y="1280160"/>
                  </a:cubicBezTo>
                  <a:cubicBezTo>
                    <a:pt x="999236" y="1280160"/>
                    <a:pt x="1280160" y="999236"/>
                    <a:pt x="1280160" y="652780"/>
                  </a:cubicBezTo>
                  <a:cubicBezTo>
                    <a:pt x="1280160" y="306324"/>
                    <a:pt x="999236" y="25400"/>
                    <a:pt x="652780" y="25400"/>
                  </a:cubicBezTo>
                  <a:lnTo>
                    <a:pt x="652780" y="12700"/>
                  </a:lnTo>
                  <a:lnTo>
                    <a:pt x="652780" y="25400"/>
                  </a:lnTo>
                  <a:cubicBezTo>
                    <a:pt x="306324" y="25400"/>
                    <a:pt x="25400" y="306324"/>
                    <a:pt x="25400" y="652780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34440" y="6583680"/>
            <a:ext cx="548640" cy="548640"/>
            <a:chOff x="0" y="0"/>
            <a:chExt cx="731520" cy="731520"/>
          </a:xfrm>
        </p:grpSpPr>
        <p:sp>
          <p:nvSpPr>
            <p:cNvPr name="Freeform 46" id="46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2194560" y="6446520"/>
            <a:ext cx="3909060" cy="822960"/>
            <a:chOff x="0" y="0"/>
            <a:chExt cx="5212080" cy="10972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212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52120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B1F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Boucles de routage possibles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28700" y="7543800"/>
            <a:ext cx="4937760" cy="1645920"/>
            <a:chOff x="0" y="0"/>
            <a:chExt cx="6583680" cy="21945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5836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6583680" cy="2223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lorsqu’une route devient invalide, l’information met du temps à se propager, ce qui peut créer des boucles temporaires.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537770" y="6030278"/>
            <a:ext cx="5564505" cy="3232785"/>
            <a:chOff x="0" y="0"/>
            <a:chExt cx="7419340" cy="43103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6350" y="6350"/>
              <a:ext cx="7406640" cy="4297680"/>
            </a:xfrm>
            <a:custGeom>
              <a:avLst/>
              <a:gdLst/>
              <a:ahLst/>
              <a:cxnLst/>
              <a:rect r="r" b="b" t="t" l="l"/>
              <a:pathLst>
                <a:path h="42976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4297680"/>
                  </a:lnTo>
                  <a:lnTo>
                    <a:pt x="0" y="42976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419340" cy="4310380"/>
            </a:xfrm>
            <a:custGeom>
              <a:avLst/>
              <a:gdLst/>
              <a:ahLst/>
              <a:cxnLst/>
              <a:rect r="r" b="b" t="t" l="l"/>
              <a:pathLst>
                <a:path h="4310380" w="7419340">
                  <a:moveTo>
                    <a:pt x="6350" y="0"/>
                  </a:moveTo>
                  <a:lnTo>
                    <a:pt x="7412990" y="0"/>
                  </a:lnTo>
                  <a:cubicBezTo>
                    <a:pt x="7416547" y="0"/>
                    <a:pt x="7419340" y="2794"/>
                    <a:pt x="7419340" y="6350"/>
                  </a:cubicBezTo>
                  <a:lnTo>
                    <a:pt x="7419340" y="4304030"/>
                  </a:lnTo>
                  <a:cubicBezTo>
                    <a:pt x="7419340" y="4307586"/>
                    <a:pt x="7416547" y="4310380"/>
                    <a:pt x="7412990" y="4310380"/>
                  </a:cubicBezTo>
                  <a:lnTo>
                    <a:pt x="6350" y="4310380"/>
                  </a:lnTo>
                  <a:cubicBezTo>
                    <a:pt x="2794" y="4310380"/>
                    <a:pt x="0" y="4307586"/>
                    <a:pt x="0" y="430403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4304030"/>
                  </a:lnTo>
                  <a:lnTo>
                    <a:pt x="6350" y="4304030"/>
                  </a:lnTo>
                  <a:lnTo>
                    <a:pt x="6350" y="4297680"/>
                  </a:lnTo>
                  <a:lnTo>
                    <a:pt x="7412990" y="4297680"/>
                  </a:lnTo>
                  <a:lnTo>
                    <a:pt x="7412990" y="4304030"/>
                  </a:lnTo>
                  <a:lnTo>
                    <a:pt x="7406640" y="4304030"/>
                  </a:lnTo>
                  <a:lnTo>
                    <a:pt x="7406640" y="6350"/>
                  </a:lnTo>
                  <a:lnTo>
                    <a:pt x="7412990" y="6350"/>
                  </a:lnTo>
                  <a:lnTo>
                    <a:pt x="741299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875907" y="6368415"/>
            <a:ext cx="979170" cy="979170"/>
            <a:chOff x="0" y="0"/>
            <a:chExt cx="1305560" cy="13055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2700" y="1270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lnTo>
                    <a:pt x="652780" y="12700"/>
                  </a:lnTo>
                  <a:lnTo>
                    <a:pt x="652780" y="0"/>
                  </a:lnTo>
                  <a:cubicBezTo>
                    <a:pt x="1013333" y="0"/>
                    <a:pt x="1305560" y="292227"/>
                    <a:pt x="1305560" y="652780"/>
                  </a:cubicBezTo>
                  <a:lnTo>
                    <a:pt x="1292860" y="652780"/>
                  </a:lnTo>
                  <a:lnTo>
                    <a:pt x="1305560" y="652780"/>
                  </a:lnTo>
                  <a:cubicBezTo>
                    <a:pt x="1305560" y="1013333"/>
                    <a:pt x="1013333" y="1305560"/>
                    <a:pt x="652780" y="1305560"/>
                  </a:cubicBezTo>
                  <a:lnTo>
                    <a:pt x="652780" y="1292860"/>
                  </a:lnTo>
                  <a:lnTo>
                    <a:pt x="652780" y="1305560"/>
                  </a:lnTo>
                  <a:cubicBezTo>
                    <a:pt x="292227" y="1305560"/>
                    <a:pt x="0" y="1013333"/>
                    <a:pt x="0" y="652780"/>
                  </a:cubicBezTo>
                  <a:lnTo>
                    <a:pt x="12700" y="652780"/>
                  </a:lnTo>
                  <a:lnTo>
                    <a:pt x="25400" y="652780"/>
                  </a:lnTo>
                  <a:lnTo>
                    <a:pt x="12700" y="652780"/>
                  </a:lnTo>
                  <a:lnTo>
                    <a:pt x="0" y="652780"/>
                  </a:lnTo>
                  <a:moveTo>
                    <a:pt x="25400" y="652780"/>
                  </a:moveTo>
                  <a:cubicBezTo>
                    <a:pt x="25400" y="659765"/>
                    <a:pt x="19685" y="665480"/>
                    <a:pt x="12700" y="665480"/>
                  </a:cubicBezTo>
                  <a:cubicBezTo>
                    <a:pt x="5715" y="665480"/>
                    <a:pt x="0" y="659765"/>
                    <a:pt x="0" y="652780"/>
                  </a:cubicBezTo>
                  <a:cubicBezTo>
                    <a:pt x="0" y="645795"/>
                    <a:pt x="5715" y="640080"/>
                    <a:pt x="12700" y="640080"/>
                  </a:cubicBezTo>
                  <a:cubicBezTo>
                    <a:pt x="19685" y="640080"/>
                    <a:pt x="25400" y="645795"/>
                    <a:pt x="25400" y="652780"/>
                  </a:cubicBezTo>
                  <a:cubicBezTo>
                    <a:pt x="25400" y="999236"/>
                    <a:pt x="306324" y="1280160"/>
                    <a:pt x="652780" y="1280160"/>
                  </a:cubicBezTo>
                  <a:cubicBezTo>
                    <a:pt x="999236" y="1280160"/>
                    <a:pt x="1280160" y="999236"/>
                    <a:pt x="1280160" y="652780"/>
                  </a:cubicBezTo>
                  <a:cubicBezTo>
                    <a:pt x="1280160" y="306324"/>
                    <a:pt x="999236" y="25400"/>
                    <a:pt x="652780" y="25400"/>
                  </a:cubicBezTo>
                  <a:lnTo>
                    <a:pt x="652780" y="12700"/>
                  </a:lnTo>
                  <a:lnTo>
                    <a:pt x="652780" y="25400"/>
                  </a:lnTo>
                  <a:cubicBezTo>
                    <a:pt x="306324" y="25400"/>
                    <a:pt x="25400" y="306324"/>
                    <a:pt x="25400" y="652780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7091172" y="6583680"/>
            <a:ext cx="548640" cy="548640"/>
            <a:chOff x="0" y="0"/>
            <a:chExt cx="731520" cy="731520"/>
          </a:xfrm>
        </p:grpSpPr>
        <p:sp>
          <p:nvSpPr>
            <p:cNvPr name="Freeform 60" id="60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8051292" y="6446520"/>
            <a:ext cx="3909060" cy="822960"/>
            <a:chOff x="0" y="0"/>
            <a:chExt cx="5212080" cy="10972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212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52120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B1F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Bande passante consommée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6885432" y="7543800"/>
            <a:ext cx="4937760" cy="1645920"/>
            <a:chOff x="0" y="0"/>
            <a:chExt cx="6583680" cy="21945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5836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6583680" cy="2223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Envoi périodique de toute la table toutes les 30 s, même si rien ne change : coûteux sur grands réseaux.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2394502" y="6030278"/>
            <a:ext cx="5564505" cy="3232785"/>
            <a:chOff x="0" y="0"/>
            <a:chExt cx="7419340" cy="43103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6350" y="6350"/>
              <a:ext cx="7406640" cy="4297680"/>
            </a:xfrm>
            <a:custGeom>
              <a:avLst/>
              <a:gdLst/>
              <a:ahLst/>
              <a:cxnLst/>
              <a:rect r="r" b="b" t="t" l="l"/>
              <a:pathLst>
                <a:path h="42976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4297680"/>
                  </a:lnTo>
                  <a:lnTo>
                    <a:pt x="0" y="42976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419340" cy="4310380"/>
            </a:xfrm>
            <a:custGeom>
              <a:avLst/>
              <a:gdLst/>
              <a:ahLst/>
              <a:cxnLst/>
              <a:rect r="r" b="b" t="t" l="l"/>
              <a:pathLst>
                <a:path h="4310380" w="7419340">
                  <a:moveTo>
                    <a:pt x="6350" y="0"/>
                  </a:moveTo>
                  <a:lnTo>
                    <a:pt x="7412990" y="0"/>
                  </a:lnTo>
                  <a:cubicBezTo>
                    <a:pt x="7416547" y="0"/>
                    <a:pt x="7419340" y="2794"/>
                    <a:pt x="7419340" y="6350"/>
                  </a:cubicBezTo>
                  <a:lnTo>
                    <a:pt x="7419340" y="4304030"/>
                  </a:lnTo>
                  <a:cubicBezTo>
                    <a:pt x="7419340" y="4307586"/>
                    <a:pt x="7416547" y="4310380"/>
                    <a:pt x="7412990" y="4310380"/>
                  </a:cubicBezTo>
                  <a:lnTo>
                    <a:pt x="6350" y="4310380"/>
                  </a:lnTo>
                  <a:cubicBezTo>
                    <a:pt x="2794" y="4310380"/>
                    <a:pt x="0" y="4307586"/>
                    <a:pt x="0" y="430403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4304030"/>
                  </a:lnTo>
                  <a:lnTo>
                    <a:pt x="6350" y="4304030"/>
                  </a:lnTo>
                  <a:lnTo>
                    <a:pt x="6350" y="4297680"/>
                  </a:lnTo>
                  <a:lnTo>
                    <a:pt x="7412990" y="4297680"/>
                  </a:lnTo>
                  <a:lnTo>
                    <a:pt x="7412990" y="4304030"/>
                  </a:lnTo>
                  <a:lnTo>
                    <a:pt x="7406640" y="4304030"/>
                  </a:lnTo>
                  <a:lnTo>
                    <a:pt x="7406640" y="6350"/>
                  </a:lnTo>
                  <a:lnTo>
                    <a:pt x="7412990" y="6350"/>
                  </a:lnTo>
                  <a:lnTo>
                    <a:pt x="741299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2732639" y="6368415"/>
            <a:ext cx="979170" cy="979170"/>
            <a:chOff x="0" y="0"/>
            <a:chExt cx="1305560" cy="130556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2700" y="1270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lnTo>
                    <a:pt x="652780" y="12700"/>
                  </a:lnTo>
                  <a:lnTo>
                    <a:pt x="652780" y="0"/>
                  </a:lnTo>
                  <a:cubicBezTo>
                    <a:pt x="1013333" y="0"/>
                    <a:pt x="1305560" y="292227"/>
                    <a:pt x="1305560" y="652780"/>
                  </a:cubicBezTo>
                  <a:lnTo>
                    <a:pt x="1292860" y="652780"/>
                  </a:lnTo>
                  <a:lnTo>
                    <a:pt x="1305560" y="652780"/>
                  </a:lnTo>
                  <a:cubicBezTo>
                    <a:pt x="1305560" y="1013333"/>
                    <a:pt x="1013333" y="1305560"/>
                    <a:pt x="652780" y="1305560"/>
                  </a:cubicBezTo>
                  <a:lnTo>
                    <a:pt x="652780" y="1292860"/>
                  </a:lnTo>
                  <a:lnTo>
                    <a:pt x="652780" y="1305560"/>
                  </a:lnTo>
                  <a:cubicBezTo>
                    <a:pt x="292227" y="1305560"/>
                    <a:pt x="0" y="1013333"/>
                    <a:pt x="0" y="652780"/>
                  </a:cubicBezTo>
                  <a:lnTo>
                    <a:pt x="12700" y="652780"/>
                  </a:lnTo>
                  <a:lnTo>
                    <a:pt x="25400" y="652780"/>
                  </a:lnTo>
                  <a:lnTo>
                    <a:pt x="12700" y="652780"/>
                  </a:lnTo>
                  <a:lnTo>
                    <a:pt x="0" y="652780"/>
                  </a:lnTo>
                  <a:moveTo>
                    <a:pt x="25400" y="652780"/>
                  </a:moveTo>
                  <a:cubicBezTo>
                    <a:pt x="25400" y="659765"/>
                    <a:pt x="19685" y="665480"/>
                    <a:pt x="12700" y="665480"/>
                  </a:cubicBezTo>
                  <a:cubicBezTo>
                    <a:pt x="5715" y="665480"/>
                    <a:pt x="0" y="659765"/>
                    <a:pt x="0" y="652780"/>
                  </a:cubicBezTo>
                  <a:cubicBezTo>
                    <a:pt x="0" y="645795"/>
                    <a:pt x="5715" y="640080"/>
                    <a:pt x="12700" y="640080"/>
                  </a:cubicBezTo>
                  <a:cubicBezTo>
                    <a:pt x="19685" y="640080"/>
                    <a:pt x="25400" y="645795"/>
                    <a:pt x="25400" y="652780"/>
                  </a:cubicBezTo>
                  <a:cubicBezTo>
                    <a:pt x="25400" y="999236"/>
                    <a:pt x="306324" y="1280160"/>
                    <a:pt x="652780" y="1280160"/>
                  </a:cubicBezTo>
                  <a:cubicBezTo>
                    <a:pt x="999236" y="1280160"/>
                    <a:pt x="1280160" y="999236"/>
                    <a:pt x="1280160" y="652780"/>
                  </a:cubicBezTo>
                  <a:cubicBezTo>
                    <a:pt x="1280160" y="306324"/>
                    <a:pt x="999236" y="25400"/>
                    <a:pt x="652780" y="25400"/>
                  </a:cubicBezTo>
                  <a:lnTo>
                    <a:pt x="652780" y="12700"/>
                  </a:lnTo>
                  <a:lnTo>
                    <a:pt x="652780" y="25400"/>
                  </a:lnTo>
                  <a:cubicBezTo>
                    <a:pt x="306324" y="25400"/>
                    <a:pt x="25400" y="306324"/>
                    <a:pt x="25400" y="652780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3092874" y="3223260"/>
            <a:ext cx="548640" cy="548640"/>
            <a:chOff x="0" y="0"/>
            <a:chExt cx="731520" cy="731520"/>
          </a:xfrm>
        </p:grpSpPr>
        <p:sp>
          <p:nvSpPr>
            <p:cNvPr name="Freeform 74" id="74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3908024" y="6446520"/>
            <a:ext cx="3909060" cy="822960"/>
            <a:chOff x="0" y="0"/>
            <a:chExt cx="5212080" cy="10972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212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52120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B1F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Conv</a:t>
              </a:r>
              <a:r>
                <a:rPr lang="en-US" sz="2100" b="true">
                  <a:solidFill>
                    <a:srgbClr val="0B1F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ergence lente 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742164" y="7543800"/>
            <a:ext cx="4937760" cy="1645920"/>
            <a:chOff x="0" y="0"/>
            <a:chExt cx="6583680" cy="219456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5836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28575"/>
              <a:ext cx="6583680" cy="2223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</a:p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Détection de panne en 180 s minimum. Le réseau peut router de manière incohérente pendant plusieurs minutes.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678656" y="9662636"/>
            <a:ext cx="16884968" cy="14288"/>
            <a:chOff x="0" y="0"/>
            <a:chExt cx="22513290" cy="1905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9525" y="0"/>
              <a:ext cx="22494239" cy="19050"/>
            </a:xfrm>
            <a:custGeom>
              <a:avLst/>
              <a:gdLst/>
              <a:ahLst/>
              <a:cxnLst/>
              <a:rect r="r" b="b" t="t" l="l"/>
              <a:pathLst>
                <a:path h="1905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685800" y="9738360"/>
            <a:ext cx="10972800" cy="411480"/>
            <a:chOff x="0" y="0"/>
            <a:chExt cx="14630400" cy="5486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RIP — Routing Information Protocol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6184880" y="9738360"/>
            <a:ext cx="1371600" cy="411480"/>
            <a:chOff x="0" y="0"/>
            <a:chExt cx="1828800" cy="5486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/ 12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2394502" y="2532698"/>
            <a:ext cx="5564505" cy="3232785"/>
            <a:chOff x="0" y="0"/>
            <a:chExt cx="7419340" cy="43103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6350" y="6350"/>
              <a:ext cx="7406640" cy="4297680"/>
            </a:xfrm>
            <a:custGeom>
              <a:avLst/>
              <a:gdLst/>
              <a:ahLst/>
              <a:cxnLst/>
              <a:rect r="r" b="b" t="t" l="l"/>
              <a:pathLst>
                <a:path h="42976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4297680"/>
                  </a:lnTo>
                  <a:lnTo>
                    <a:pt x="0" y="42976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419340" cy="4310380"/>
            </a:xfrm>
            <a:custGeom>
              <a:avLst/>
              <a:gdLst/>
              <a:ahLst/>
              <a:cxnLst/>
              <a:rect r="r" b="b" t="t" l="l"/>
              <a:pathLst>
                <a:path h="4310380" w="7419340">
                  <a:moveTo>
                    <a:pt x="6350" y="0"/>
                  </a:moveTo>
                  <a:lnTo>
                    <a:pt x="7412990" y="0"/>
                  </a:lnTo>
                  <a:cubicBezTo>
                    <a:pt x="7416547" y="0"/>
                    <a:pt x="7419340" y="2794"/>
                    <a:pt x="7419340" y="6350"/>
                  </a:cubicBezTo>
                  <a:lnTo>
                    <a:pt x="7419340" y="4304030"/>
                  </a:lnTo>
                  <a:cubicBezTo>
                    <a:pt x="7419340" y="4307586"/>
                    <a:pt x="7416547" y="4310380"/>
                    <a:pt x="7412990" y="4310380"/>
                  </a:cubicBezTo>
                  <a:lnTo>
                    <a:pt x="6350" y="4310380"/>
                  </a:lnTo>
                  <a:cubicBezTo>
                    <a:pt x="2794" y="4310380"/>
                    <a:pt x="0" y="4307586"/>
                    <a:pt x="0" y="430403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4304030"/>
                  </a:lnTo>
                  <a:lnTo>
                    <a:pt x="6350" y="4304030"/>
                  </a:lnTo>
                  <a:lnTo>
                    <a:pt x="6350" y="4297680"/>
                  </a:lnTo>
                  <a:lnTo>
                    <a:pt x="7412990" y="4297680"/>
                  </a:lnTo>
                  <a:lnTo>
                    <a:pt x="7412990" y="4304030"/>
                  </a:lnTo>
                  <a:lnTo>
                    <a:pt x="7406640" y="4304030"/>
                  </a:lnTo>
                  <a:lnTo>
                    <a:pt x="7406640" y="6350"/>
                  </a:lnTo>
                  <a:lnTo>
                    <a:pt x="7412990" y="6350"/>
                  </a:lnTo>
                  <a:lnTo>
                    <a:pt x="741299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2732639" y="2870835"/>
            <a:ext cx="979170" cy="979170"/>
            <a:chOff x="0" y="0"/>
            <a:chExt cx="1305560" cy="130556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2700" y="1270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lnTo>
                    <a:pt x="652780" y="12700"/>
                  </a:lnTo>
                  <a:lnTo>
                    <a:pt x="652780" y="0"/>
                  </a:lnTo>
                  <a:cubicBezTo>
                    <a:pt x="1013333" y="0"/>
                    <a:pt x="1305560" y="292227"/>
                    <a:pt x="1305560" y="652780"/>
                  </a:cubicBezTo>
                  <a:lnTo>
                    <a:pt x="1292860" y="652780"/>
                  </a:lnTo>
                  <a:lnTo>
                    <a:pt x="1305560" y="652780"/>
                  </a:lnTo>
                  <a:cubicBezTo>
                    <a:pt x="1305560" y="1013333"/>
                    <a:pt x="1013333" y="1305560"/>
                    <a:pt x="652780" y="1305560"/>
                  </a:cubicBezTo>
                  <a:lnTo>
                    <a:pt x="652780" y="1292860"/>
                  </a:lnTo>
                  <a:lnTo>
                    <a:pt x="652780" y="1305560"/>
                  </a:lnTo>
                  <a:cubicBezTo>
                    <a:pt x="292227" y="1305560"/>
                    <a:pt x="0" y="1013333"/>
                    <a:pt x="0" y="652780"/>
                  </a:cubicBezTo>
                  <a:lnTo>
                    <a:pt x="12700" y="652780"/>
                  </a:lnTo>
                  <a:lnTo>
                    <a:pt x="25400" y="652780"/>
                  </a:lnTo>
                  <a:lnTo>
                    <a:pt x="12700" y="652780"/>
                  </a:lnTo>
                  <a:lnTo>
                    <a:pt x="0" y="652780"/>
                  </a:lnTo>
                  <a:moveTo>
                    <a:pt x="25400" y="652780"/>
                  </a:moveTo>
                  <a:cubicBezTo>
                    <a:pt x="25400" y="659765"/>
                    <a:pt x="19685" y="665480"/>
                    <a:pt x="12700" y="665480"/>
                  </a:cubicBezTo>
                  <a:cubicBezTo>
                    <a:pt x="5715" y="665480"/>
                    <a:pt x="0" y="659765"/>
                    <a:pt x="0" y="652780"/>
                  </a:cubicBezTo>
                  <a:cubicBezTo>
                    <a:pt x="0" y="645795"/>
                    <a:pt x="5715" y="640080"/>
                    <a:pt x="12700" y="640080"/>
                  </a:cubicBezTo>
                  <a:cubicBezTo>
                    <a:pt x="19685" y="640080"/>
                    <a:pt x="25400" y="645795"/>
                    <a:pt x="25400" y="652780"/>
                  </a:cubicBezTo>
                  <a:cubicBezTo>
                    <a:pt x="25400" y="999236"/>
                    <a:pt x="306324" y="1280160"/>
                    <a:pt x="652780" y="1280160"/>
                  </a:cubicBezTo>
                  <a:cubicBezTo>
                    <a:pt x="999236" y="1280160"/>
                    <a:pt x="1280160" y="999236"/>
                    <a:pt x="1280160" y="652780"/>
                  </a:cubicBezTo>
                  <a:cubicBezTo>
                    <a:pt x="1280160" y="306324"/>
                    <a:pt x="999236" y="25400"/>
                    <a:pt x="652780" y="25400"/>
                  </a:cubicBezTo>
                  <a:lnTo>
                    <a:pt x="652780" y="12700"/>
                  </a:lnTo>
                  <a:lnTo>
                    <a:pt x="652780" y="25400"/>
                  </a:lnTo>
                  <a:cubicBezTo>
                    <a:pt x="306324" y="25400"/>
                    <a:pt x="25400" y="306324"/>
                    <a:pt x="25400" y="652780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2947904" y="3086100"/>
            <a:ext cx="548640" cy="548640"/>
            <a:chOff x="0" y="0"/>
            <a:chExt cx="731520" cy="731520"/>
          </a:xfrm>
        </p:grpSpPr>
        <p:sp>
          <p:nvSpPr>
            <p:cNvPr name="Freeform 96" id="96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3908024" y="2948940"/>
            <a:ext cx="3909060" cy="822960"/>
            <a:chOff x="0" y="0"/>
            <a:chExt cx="5212080" cy="109728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212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9525"/>
              <a:ext cx="52120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B1F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Convergence lente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2742164" y="4046220"/>
            <a:ext cx="4937760" cy="1645920"/>
            <a:chOff x="0" y="0"/>
            <a:chExt cx="6583680" cy="219456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65836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28575"/>
              <a:ext cx="6583680" cy="2223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Détection de panne en 180 s minimum. Le réseau peut router de manière incohérente pendant plusieurs minutes.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2546902" y="2685098"/>
            <a:ext cx="5564505" cy="3232785"/>
            <a:chOff x="0" y="0"/>
            <a:chExt cx="7419340" cy="431038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6350" y="6350"/>
              <a:ext cx="7406640" cy="4297680"/>
            </a:xfrm>
            <a:custGeom>
              <a:avLst/>
              <a:gdLst/>
              <a:ahLst/>
              <a:cxnLst/>
              <a:rect r="r" b="b" t="t" l="l"/>
              <a:pathLst>
                <a:path h="42976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4297680"/>
                  </a:lnTo>
                  <a:lnTo>
                    <a:pt x="0" y="42976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7419340" cy="4310380"/>
            </a:xfrm>
            <a:custGeom>
              <a:avLst/>
              <a:gdLst/>
              <a:ahLst/>
              <a:cxnLst/>
              <a:rect r="r" b="b" t="t" l="l"/>
              <a:pathLst>
                <a:path h="4310380" w="7419340">
                  <a:moveTo>
                    <a:pt x="6350" y="0"/>
                  </a:moveTo>
                  <a:lnTo>
                    <a:pt x="7412990" y="0"/>
                  </a:lnTo>
                  <a:cubicBezTo>
                    <a:pt x="7416547" y="0"/>
                    <a:pt x="7419340" y="2794"/>
                    <a:pt x="7419340" y="6350"/>
                  </a:cubicBezTo>
                  <a:lnTo>
                    <a:pt x="7419340" y="4304030"/>
                  </a:lnTo>
                  <a:cubicBezTo>
                    <a:pt x="7419340" y="4307586"/>
                    <a:pt x="7416547" y="4310380"/>
                    <a:pt x="7412990" y="4310380"/>
                  </a:cubicBezTo>
                  <a:lnTo>
                    <a:pt x="6350" y="4310380"/>
                  </a:lnTo>
                  <a:cubicBezTo>
                    <a:pt x="2794" y="4310380"/>
                    <a:pt x="0" y="4307586"/>
                    <a:pt x="0" y="430403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4304030"/>
                  </a:lnTo>
                  <a:lnTo>
                    <a:pt x="6350" y="4304030"/>
                  </a:lnTo>
                  <a:lnTo>
                    <a:pt x="6350" y="4297680"/>
                  </a:lnTo>
                  <a:lnTo>
                    <a:pt x="7412990" y="4297680"/>
                  </a:lnTo>
                  <a:lnTo>
                    <a:pt x="7412990" y="4304030"/>
                  </a:lnTo>
                  <a:lnTo>
                    <a:pt x="7406640" y="4304030"/>
                  </a:lnTo>
                  <a:lnTo>
                    <a:pt x="7406640" y="6350"/>
                  </a:lnTo>
                  <a:lnTo>
                    <a:pt x="7412990" y="6350"/>
                  </a:lnTo>
                  <a:lnTo>
                    <a:pt x="741299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2885039" y="3023235"/>
            <a:ext cx="979170" cy="979170"/>
            <a:chOff x="0" y="0"/>
            <a:chExt cx="1305560" cy="130556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12700" y="1270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lnTo>
                    <a:pt x="652780" y="12700"/>
                  </a:lnTo>
                  <a:lnTo>
                    <a:pt x="652780" y="0"/>
                  </a:lnTo>
                  <a:cubicBezTo>
                    <a:pt x="1013333" y="0"/>
                    <a:pt x="1305560" y="292227"/>
                    <a:pt x="1305560" y="652780"/>
                  </a:cubicBezTo>
                  <a:lnTo>
                    <a:pt x="1292860" y="652780"/>
                  </a:lnTo>
                  <a:lnTo>
                    <a:pt x="1305560" y="652780"/>
                  </a:lnTo>
                  <a:cubicBezTo>
                    <a:pt x="1305560" y="1013333"/>
                    <a:pt x="1013333" y="1305560"/>
                    <a:pt x="652780" y="1305560"/>
                  </a:cubicBezTo>
                  <a:lnTo>
                    <a:pt x="652780" y="1292860"/>
                  </a:lnTo>
                  <a:lnTo>
                    <a:pt x="652780" y="1305560"/>
                  </a:lnTo>
                  <a:cubicBezTo>
                    <a:pt x="292227" y="1305560"/>
                    <a:pt x="0" y="1013333"/>
                    <a:pt x="0" y="652780"/>
                  </a:cubicBezTo>
                  <a:lnTo>
                    <a:pt x="12700" y="652780"/>
                  </a:lnTo>
                  <a:lnTo>
                    <a:pt x="25400" y="652780"/>
                  </a:lnTo>
                  <a:lnTo>
                    <a:pt x="12700" y="652780"/>
                  </a:lnTo>
                  <a:lnTo>
                    <a:pt x="0" y="652780"/>
                  </a:lnTo>
                  <a:moveTo>
                    <a:pt x="25400" y="652780"/>
                  </a:moveTo>
                  <a:cubicBezTo>
                    <a:pt x="25400" y="659765"/>
                    <a:pt x="19685" y="665480"/>
                    <a:pt x="12700" y="665480"/>
                  </a:cubicBezTo>
                  <a:cubicBezTo>
                    <a:pt x="5715" y="665480"/>
                    <a:pt x="0" y="659765"/>
                    <a:pt x="0" y="652780"/>
                  </a:cubicBezTo>
                  <a:cubicBezTo>
                    <a:pt x="0" y="645795"/>
                    <a:pt x="5715" y="640080"/>
                    <a:pt x="12700" y="640080"/>
                  </a:cubicBezTo>
                  <a:cubicBezTo>
                    <a:pt x="19685" y="640080"/>
                    <a:pt x="25400" y="645795"/>
                    <a:pt x="25400" y="652780"/>
                  </a:cubicBezTo>
                  <a:cubicBezTo>
                    <a:pt x="25400" y="999236"/>
                    <a:pt x="306324" y="1280160"/>
                    <a:pt x="652780" y="1280160"/>
                  </a:cubicBezTo>
                  <a:cubicBezTo>
                    <a:pt x="999236" y="1280160"/>
                    <a:pt x="1280160" y="999236"/>
                    <a:pt x="1280160" y="652780"/>
                  </a:cubicBezTo>
                  <a:cubicBezTo>
                    <a:pt x="1280160" y="306324"/>
                    <a:pt x="999236" y="25400"/>
                    <a:pt x="652780" y="25400"/>
                  </a:cubicBezTo>
                  <a:lnTo>
                    <a:pt x="652780" y="12700"/>
                  </a:lnTo>
                  <a:lnTo>
                    <a:pt x="652780" y="25400"/>
                  </a:lnTo>
                  <a:cubicBezTo>
                    <a:pt x="306324" y="25400"/>
                    <a:pt x="25400" y="306324"/>
                    <a:pt x="25400" y="652780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4060424" y="3101340"/>
            <a:ext cx="3909060" cy="822960"/>
            <a:chOff x="0" y="0"/>
            <a:chExt cx="5212080" cy="109728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5212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9525"/>
              <a:ext cx="52120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B1F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Pas de hiérarchie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2894564" y="4198620"/>
            <a:ext cx="4937760" cy="1645920"/>
            <a:chOff x="0" y="0"/>
            <a:chExt cx="6583680" cy="219456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5836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28575"/>
              <a:ext cx="6583680" cy="2223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Pas d</a:t>
              </a:r>
              <a:r>
                <a:rPr lang="en-US" sz="16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 notion d'aire comme OSPF : le protocole ne passe pas à l'échelle au-delà de petits réseaux.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3092874" y="3223260"/>
            <a:ext cx="548640" cy="548640"/>
            <a:chOff x="0" y="0"/>
            <a:chExt cx="731520" cy="731520"/>
          </a:xfrm>
        </p:grpSpPr>
        <p:sp>
          <p:nvSpPr>
            <p:cNvPr name="Freeform 116" id="116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2950000" y="6558201"/>
            <a:ext cx="548640" cy="548640"/>
            <a:chOff x="0" y="0"/>
            <a:chExt cx="731520" cy="731520"/>
          </a:xfrm>
        </p:grpSpPr>
        <p:sp>
          <p:nvSpPr>
            <p:cNvPr name="Freeform 118" id="118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80060"/>
            <a:ext cx="16870680" cy="822960"/>
            <a:chOff x="0" y="0"/>
            <a:chExt cx="2249424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942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4942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1F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Vulnérabilités de sécurité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1303020"/>
            <a:ext cx="16870680" cy="480060"/>
            <a:chOff x="0" y="0"/>
            <a:chExt cx="22494240" cy="640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94239" cy="640080"/>
            </a:xfrm>
            <a:custGeom>
              <a:avLst/>
              <a:gdLst/>
              <a:ahLst/>
              <a:cxnLst/>
              <a:rect r="r" b="b" t="t" l="l"/>
              <a:pathLst>
                <a:path h="6400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4759" r="0" b="-63475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24942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1C729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Que peut faire un attaquant face à RIP 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76275" y="1910715"/>
            <a:ext cx="704850" cy="101346"/>
            <a:chOff x="0" y="0"/>
            <a:chExt cx="939800" cy="135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" y="12700"/>
              <a:ext cx="914400" cy="109728"/>
            </a:xfrm>
            <a:custGeom>
              <a:avLst/>
              <a:gdLst/>
              <a:ahLst/>
              <a:cxnLst/>
              <a:rect r="r" b="b" t="t" l="l"/>
              <a:pathLst>
                <a:path h="109728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9800" cy="135128"/>
            </a:xfrm>
            <a:custGeom>
              <a:avLst/>
              <a:gdLst/>
              <a:ahLst/>
              <a:cxnLst/>
              <a:rect r="r" b="b" t="t" l="l"/>
              <a:pathLst>
                <a:path h="135128" w="939800">
                  <a:moveTo>
                    <a:pt x="12700" y="0"/>
                  </a:moveTo>
                  <a:lnTo>
                    <a:pt x="927100" y="0"/>
                  </a:lnTo>
                  <a:cubicBezTo>
                    <a:pt x="934085" y="0"/>
                    <a:pt x="939800" y="5715"/>
                    <a:pt x="939800" y="12700"/>
                  </a:cubicBezTo>
                  <a:lnTo>
                    <a:pt x="939800" y="122428"/>
                  </a:lnTo>
                  <a:cubicBezTo>
                    <a:pt x="939800" y="129413"/>
                    <a:pt x="934085" y="135128"/>
                    <a:pt x="927100" y="135128"/>
                  </a:cubicBezTo>
                  <a:lnTo>
                    <a:pt x="12700" y="135128"/>
                  </a:lnTo>
                  <a:cubicBezTo>
                    <a:pt x="5715" y="135128"/>
                    <a:pt x="0" y="129413"/>
                    <a:pt x="0" y="12242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2428"/>
                  </a:lnTo>
                  <a:lnTo>
                    <a:pt x="12700" y="122428"/>
                  </a:lnTo>
                  <a:lnTo>
                    <a:pt x="12700" y="109728"/>
                  </a:lnTo>
                  <a:lnTo>
                    <a:pt x="927100" y="109728"/>
                  </a:lnTo>
                  <a:lnTo>
                    <a:pt x="927100" y="122428"/>
                  </a:lnTo>
                  <a:lnTo>
                    <a:pt x="914400" y="122428"/>
                  </a:lnTo>
                  <a:lnTo>
                    <a:pt x="914400" y="12700"/>
                  </a:lnTo>
                  <a:lnTo>
                    <a:pt x="927100" y="12700"/>
                  </a:lnTo>
                  <a:lnTo>
                    <a:pt x="9271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81038" y="2326958"/>
            <a:ext cx="16880205" cy="2135505"/>
            <a:chOff x="0" y="0"/>
            <a:chExt cx="22506940" cy="28473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22494239" cy="2834640"/>
            </a:xfrm>
            <a:custGeom>
              <a:avLst/>
              <a:gdLst/>
              <a:ahLst/>
              <a:cxnLst/>
              <a:rect r="r" b="b" t="t" l="l"/>
              <a:pathLst>
                <a:path h="283464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2834640"/>
                  </a:lnTo>
                  <a:lnTo>
                    <a:pt x="0" y="28346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506939" cy="2847340"/>
            </a:xfrm>
            <a:custGeom>
              <a:avLst/>
              <a:gdLst/>
              <a:ahLst/>
              <a:cxnLst/>
              <a:rect r="r" b="b" t="t" l="l"/>
              <a:pathLst>
                <a:path h="2847340" w="22506939">
                  <a:moveTo>
                    <a:pt x="6350" y="0"/>
                  </a:moveTo>
                  <a:lnTo>
                    <a:pt x="22500589" y="0"/>
                  </a:lnTo>
                  <a:cubicBezTo>
                    <a:pt x="22504146" y="0"/>
                    <a:pt x="22506939" y="2794"/>
                    <a:pt x="22506939" y="6350"/>
                  </a:cubicBezTo>
                  <a:lnTo>
                    <a:pt x="22506939" y="2840990"/>
                  </a:lnTo>
                  <a:cubicBezTo>
                    <a:pt x="22506939" y="2844546"/>
                    <a:pt x="22504146" y="2847340"/>
                    <a:pt x="22500589" y="2847340"/>
                  </a:cubicBezTo>
                  <a:lnTo>
                    <a:pt x="6350" y="2847340"/>
                  </a:lnTo>
                  <a:cubicBezTo>
                    <a:pt x="2794" y="2847340"/>
                    <a:pt x="0" y="2844546"/>
                    <a:pt x="0" y="284099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2840990"/>
                  </a:lnTo>
                  <a:lnTo>
                    <a:pt x="6350" y="2840990"/>
                  </a:lnTo>
                  <a:lnTo>
                    <a:pt x="6350" y="2834640"/>
                  </a:lnTo>
                  <a:lnTo>
                    <a:pt x="22500589" y="2834640"/>
                  </a:lnTo>
                  <a:lnTo>
                    <a:pt x="22500589" y="2840990"/>
                  </a:lnTo>
                  <a:lnTo>
                    <a:pt x="22494239" y="2840990"/>
                  </a:lnTo>
                  <a:lnTo>
                    <a:pt x="22494239" y="6350"/>
                  </a:lnTo>
                  <a:lnTo>
                    <a:pt x="22500589" y="6350"/>
                  </a:lnTo>
                  <a:lnTo>
                    <a:pt x="22500589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76275" y="2322195"/>
            <a:ext cx="156210" cy="2145030"/>
            <a:chOff x="0" y="0"/>
            <a:chExt cx="208280" cy="28600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18288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82880">
                  <a:moveTo>
                    <a:pt x="0" y="0"/>
                  </a:moveTo>
                  <a:lnTo>
                    <a:pt x="182880" y="0"/>
                  </a:lnTo>
                  <a:lnTo>
                    <a:pt x="182880" y="2834640"/>
                  </a:lnTo>
                  <a:lnTo>
                    <a:pt x="0" y="2834640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8280" cy="2860040"/>
            </a:xfrm>
            <a:custGeom>
              <a:avLst/>
              <a:gdLst/>
              <a:ahLst/>
              <a:cxnLst/>
              <a:rect r="r" b="b" t="t" l="l"/>
              <a:pathLst>
                <a:path h="2860040" w="208280">
                  <a:moveTo>
                    <a:pt x="12700" y="0"/>
                  </a:moveTo>
                  <a:lnTo>
                    <a:pt x="195580" y="0"/>
                  </a:lnTo>
                  <a:cubicBezTo>
                    <a:pt x="202565" y="0"/>
                    <a:pt x="208280" y="5715"/>
                    <a:pt x="208280" y="12700"/>
                  </a:cubicBezTo>
                  <a:lnTo>
                    <a:pt x="208280" y="2847340"/>
                  </a:lnTo>
                  <a:cubicBezTo>
                    <a:pt x="208280" y="2854325"/>
                    <a:pt x="202565" y="2860040"/>
                    <a:pt x="195580" y="2860040"/>
                  </a:cubicBezTo>
                  <a:lnTo>
                    <a:pt x="12700" y="2860040"/>
                  </a:lnTo>
                  <a:cubicBezTo>
                    <a:pt x="5715" y="2860040"/>
                    <a:pt x="0" y="2854325"/>
                    <a:pt x="0" y="28473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47340"/>
                  </a:lnTo>
                  <a:lnTo>
                    <a:pt x="12700" y="2847340"/>
                  </a:lnTo>
                  <a:lnTo>
                    <a:pt x="12700" y="2834640"/>
                  </a:lnTo>
                  <a:lnTo>
                    <a:pt x="195580" y="2834640"/>
                  </a:lnTo>
                  <a:lnTo>
                    <a:pt x="195580" y="2847340"/>
                  </a:lnTo>
                  <a:lnTo>
                    <a:pt x="182880" y="2847340"/>
                  </a:lnTo>
                  <a:lnTo>
                    <a:pt x="182880" y="12700"/>
                  </a:lnTo>
                  <a:lnTo>
                    <a:pt x="195580" y="12700"/>
                  </a:lnTo>
                  <a:lnTo>
                    <a:pt x="1955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65860" y="3086100"/>
            <a:ext cx="685800" cy="685800"/>
            <a:chOff x="0" y="0"/>
            <a:chExt cx="914400" cy="91440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125980" y="2537460"/>
            <a:ext cx="9601200" cy="548640"/>
            <a:chOff x="0" y="0"/>
            <a:chExt cx="1280160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8016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28016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1F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Injection de fausses routes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078075" y="2569083"/>
            <a:ext cx="2213610" cy="499110"/>
            <a:chOff x="0" y="0"/>
            <a:chExt cx="2951480" cy="6654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2700" y="12700"/>
              <a:ext cx="2926080" cy="640080"/>
            </a:xfrm>
            <a:custGeom>
              <a:avLst/>
              <a:gdLst/>
              <a:ahLst/>
              <a:cxnLst/>
              <a:rect r="r" b="b" t="t" l="l"/>
              <a:pathLst>
                <a:path h="6400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951480" cy="665480"/>
            </a:xfrm>
            <a:custGeom>
              <a:avLst/>
              <a:gdLst/>
              <a:ahLst/>
              <a:cxnLst/>
              <a:rect r="r" b="b" t="t" l="l"/>
              <a:pathLst>
                <a:path h="665480" w="2951480">
                  <a:moveTo>
                    <a:pt x="12700" y="0"/>
                  </a:moveTo>
                  <a:lnTo>
                    <a:pt x="2938780" y="0"/>
                  </a:lnTo>
                  <a:cubicBezTo>
                    <a:pt x="2945765" y="0"/>
                    <a:pt x="2951480" y="5715"/>
                    <a:pt x="2951480" y="12700"/>
                  </a:cubicBezTo>
                  <a:lnTo>
                    <a:pt x="2951480" y="652780"/>
                  </a:lnTo>
                  <a:cubicBezTo>
                    <a:pt x="2951480" y="659765"/>
                    <a:pt x="2945765" y="665480"/>
                    <a:pt x="2938780" y="665480"/>
                  </a:cubicBezTo>
                  <a:lnTo>
                    <a:pt x="12700" y="665480"/>
                  </a:lnTo>
                  <a:cubicBezTo>
                    <a:pt x="5715" y="665480"/>
                    <a:pt x="0" y="659765"/>
                    <a:pt x="0" y="6527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52780"/>
                  </a:lnTo>
                  <a:lnTo>
                    <a:pt x="12700" y="652780"/>
                  </a:lnTo>
                  <a:lnTo>
                    <a:pt x="12700" y="640080"/>
                  </a:lnTo>
                  <a:lnTo>
                    <a:pt x="2938780" y="640080"/>
                  </a:lnTo>
                  <a:lnTo>
                    <a:pt x="2938780" y="652780"/>
                  </a:lnTo>
                  <a:lnTo>
                    <a:pt x="2926080" y="652780"/>
                  </a:lnTo>
                  <a:lnTo>
                    <a:pt x="2926080" y="12700"/>
                  </a:lnTo>
                  <a:lnTo>
                    <a:pt x="2938780" y="12700"/>
                  </a:lnTo>
                  <a:lnTo>
                    <a:pt x="29387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5087600" y="2578608"/>
            <a:ext cx="2194560" cy="480060"/>
            <a:chOff x="0" y="0"/>
            <a:chExt cx="2926080" cy="6400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926080" cy="640080"/>
            </a:xfrm>
            <a:custGeom>
              <a:avLst/>
              <a:gdLst/>
              <a:ahLst/>
              <a:cxnLst/>
              <a:rect r="r" b="b" t="t" l="l"/>
              <a:pathLst>
                <a:path h="6400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074" r="0" b="-3907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292608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 spc="300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RISQUE  ÉLEVÉ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125980" y="3086100"/>
            <a:ext cx="15087600" cy="754380"/>
            <a:chOff x="0" y="0"/>
            <a:chExt cx="20116800" cy="1005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116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01168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 attaquant sur le segment local envoie des paquets RIP avec une métrique très basse pour attirer le trafic vers lui (Man-in-the-Middle).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125980" y="3909060"/>
            <a:ext cx="342900" cy="342900"/>
            <a:chOff x="0" y="0"/>
            <a:chExt cx="457200" cy="457200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2537460" y="3909060"/>
            <a:ext cx="2057400" cy="411480"/>
            <a:chOff x="0" y="0"/>
            <a:chExt cx="274320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743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2743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Mitigation : 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046220" y="3909060"/>
            <a:ext cx="13030200" cy="411480"/>
            <a:chOff x="0" y="0"/>
            <a:chExt cx="17373600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7373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7026" r="0" b="-56702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17373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Authentification MD5 (RIPv2) — désactivée par défaut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81038" y="4658678"/>
            <a:ext cx="16880205" cy="2135505"/>
            <a:chOff x="0" y="0"/>
            <a:chExt cx="22506940" cy="28473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6350" y="6350"/>
              <a:ext cx="22494239" cy="2834640"/>
            </a:xfrm>
            <a:custGeom>
              <a:avLst/>
              <a:gdLst/>
              <a:ahLst/>
              <a:cxnLst/>
              <a:rect r="r" b="b" t="t" l="l"/>
              <a:pathLst>
                <a:path h="283464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2834640"/>
                  </a:lnTo>
                  <a:lnTo>
                    <a:pt x="0" y="28346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506939" cy="2847340"/>
            </a:xfrm>
            <a:custGeom>
              <a:avLst/>
              <a:gdLst/>
              <a:ahLst/>
              <a:cxnLst/>
              <a:rect r="r" b="b" t="t" l="l"/>
              <a:pathLst>
                <a:path h="2847340" w="22506939">
                  <a:moveTo>
                    <a:pt x="6350" y="0"/>
                  </a:moveTo>
                  <a:lnTo>
                    <a:pt x="22500589" y="0"/>
                  </a:lnTo>
                  <a:cubicBezTo>
                    <a:pt x="22504146" y="0"/>
                    <a:pt x="22506939" y="2794"/>
                    <a:pt x="22506939" y="6350"/>
                  </a:cubicBezTo>
                  <a:lnTo>
                    <a:pt x="22506939" y="2840990"/>
                  </a:lnTo>
                  <a:cubicBezTo>
                    <a:pt x="22506939" y="2844546"/>
                    <a:pt x="22504146" y="2847340"/>
                    <a:pt x="22500589" y="2847340"/>
                  </a:cubicBezTo>
                  <a:lnTo>
                    <a:pt x="6350" y="2847340"/>
                  </a:lnTo>
                  <a:cubicBezTo>
                    <a:pt x="2794" y="2847340"/>
                    <a:pt x="0" y="2844546"/>
                    <a:pt x="0" y="284099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2840990"/>
                  </a:lnTo>
                  <a:lnTo>
                    <a:pt x="6350" y="2840990"/>
                  </a:lnTo>
                  <a:lnTo>
                    <a:pt x="6350" y="2834640"/>
                  </a:lnTo>
                  <a:lnTo>
                    <a:pt x="22500589" y="2834640"/>
                  </a:lnTo>
                  <a:lnTo>
                    <a:pt x="22500589" y="2840990"/>
                  </a:lnTo>
                  <a:lnTo>
                    <a:pt x="22494239" y="2840990"/>
                  </a:lnTo>
                  <a:lnTo>
                    <a:pt x="22494239" y="6350"/>
                  </a:lnTo>
                  <a:lnTo>
                    <a:pt x="22500589" y="6350"/>
                  </a:lnTo>
                  <a:lnTo>
                    <a:pt x="22500589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676275" y="4653915"/>
            <a:ext cx="156210" cy="2145030"/>
            <a:chOff x="0" y="0"/>
            <a:chExt cx="208280" cy="28600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2700" y="12700"/>
              <a:ext cx="18288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82880">
                  <a:moveTo>
                    <a:pt x="0" y="0"/>
                  </a:moveTo>
                  <a:lnTo>
                    <a:pt x="182880" y="0"/>
                  </a:lnTo>
                  <a:lnTo>
                    <a:pt x="182880" y="2834640"/>
                  </a:lnTo>
                  <a:lnTo>
                    <a:pt x="0" y="2834640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8280" cy="2860040"/>
            </a:xfrm>
            <a:custGeom>
              <a:avLst/>
              <a:gdLst/>
              <a:ahLst/>
              <a:cxnLst/>
              <a:rect r="r" b="b" t="t" l="l"/>
              <a:pathLst>
                <a:path h="2860040" w="208280">
                  <a:moveTo>
                    <a:pt x="12700" y="0"/>
                  </a:moveTo>
                  <a:lnTo>
                    <a:pt x="195580" y="0"/>
                  </a:lnTo>
                  <a:cubicBezTo>
                    <a:pt x="202565" y="0"/>
                    <a:pt x="208280" y="5715"/>
                    <a:pt x="208280" y="12700"/>
                  </a:cubicBezTo>
                  <a:lnTo>
                    <a:pt x="208280" y="2847340"/>
                  </a:lnTo>
                  <a:cubicBezTo>
                    <a:pt x="208280" y="2854325"/>
                    <a:pt x="202565" y="2860040"/>
                    <a:pt x="195580" y="2860040"/>
                  </a:cubicBezTo>
                  <a:lnTo>
                    <a:pt x="12700" y="2860040"/>
                  </a:lnTo>
                  <a:cubicBezTo>
                    <a:pt x="5715" y="2860040"/>
                    <a:pt x="0" y="2854325"/>
                    <a:pt x="0" y="28473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47340"/>
                  </a:lnTo>
                  <a:lnTo>
                    <a:pt x="12700" y="2847340"/>
                  </a:lnTo>
                  <a:lnTo>
                    <a:pt x="12700" y="2834640"/>
                  </a:lnTo>
                  <a:lnTo>
                    <a:pt x="195580" y="2834640"/>
                  </a:lnTo>
                  <a:lnTo>
                    <a:pt x="195580" y="2847340"/>
                  </a:lnTo>
                  <a:lnTo>
                    <a:pt x="182880" y="2847340"/>
                  </a:lnTo>
                  <a:lnTo>
                    <a:pt x="182880" y="12700"/>
                  </a:lnTo>
                  <a:lnTo>
                    <a:pt x="195580" y="12700"/>
                  </a:lnTo>
                  <a:lnTo>
                    <a:pt x="1955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65860" y="5417820"/>
            <a:ext cx="685800" cy="685800"/>
            <a:chOff x="0" y="0"/>
            <a:chExt cx="914400" cy="914400"/>
          </a:xfrm>
        </p:grpSpPr>
        <p:sp>
          <p:nvSpPr>
            <p:cNvPr name="Freeform 46" id="46" descr="preencoded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2125980" y="4869180"/>
            <a:ext cx="9601200" cy="548640"/>
            <a:chOff x="0" y="0"/>
            <a:chExt cx="1280160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8016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128016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1F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Déni de service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5078075" y="4900803"/>
            <a:ext cx="2213610" cy="499110"/>
            <a:chOff x="0" y="0"/>
            <a:chExt cx="2951480" cy="6654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2700" y="12700"/>
              <a:ext cx="2926080" cy="640080"/>
            </a:xfrm>
            <a:custGeom>
              <a:avLst/>
              <a:gdLst/>
              <a:ahLst/>
              <a:cxnLst/>
              <a:rect r="r" b="b" t="t" l="l"/>
              <a:pathLst>
                <a:path h="6400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951480" cy="665480"/>
            </a:xfrm>
            <a:custGeom>
              <a:avLst/>
              <a:gdLst/>
              <a:ahLst/>
              <a:cxnLst/>
              <a:rect r="r" b="b" t="t" l="l"/>
              <a:pathLst>
                <a:path h="665480" w="2951480">
                  <a:moveTo>
                    <a:pt x="12700" y="0"/>
                  </a:moveTo>
                  <a:lnTo>
                    <a:pt x="2938780" y="0"/>
                  </a:lnTo>
                  <a:cubicBezTo>
                    <a:pt x="2945765" y="0"/>
                    <a:pt x="2951480" y="5715"/>
                    <a:pt x="2951480" y="12700"/>
                  </a:cubicBezTo>
                  <a:lnTo>
                    <a:pt x="2951480" y="652780"/>
                  </a:lnTo>
                  <a:cubicBezTo>
                    <a:pt x="2951480" y="659765"/>
                    <a:pt x="2945765" y="665480"/>
                    <a:pt x="2938780" y="665480"/>
                  </a:cubicBezTo>
                  <a:lnTo>
                    <a:pt x="12700" y="665480"/>
                  </a:lnTo>
                  <a:cubicBezTo>
                    <a:pt x="5715" y="665480"/>
                    <a:pt x="0" y="659765"/>
                    <a:pt x="0" y="6527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52780"/>
                  </a:lnTo>
                  <a:lnTo>
                    <a:pt x="12700" y="652780"/>
                  </a:lnTo>
                  <a:lnTo>
                    <a:pt x="12700" y="640080"/>
                  </a:lnTo>
                  <a:lnTo>
                    <a:pt x="2938780" y="640080"/>
                  </a:lnTo>
                  <a:lnTo>
                    <a:pt x="2938780" y="652780"/>
                  </a:lnTo>
                  <a:lnTo>
                    <a:pt x="2926080" y="652780"/>
                  </a:lnTo>
                  <a:lnTo>
                    <a:pt x="2926080" y="12700"/>
                  </a:lnTo>
                  <a:lnTo>
                    <a:pt x="2938780" y="12700"/>
                  </a:lnTo>
                  <a:lnTo>
                    <a:pt x="29387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5087600" y="4910328"/>
            <a:ext cx="2194560" cy="480060"/>
            <a:chOff x="0" y="0"/>
            <a:chExt cx="2926080" cy="6400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926080" cy="640080"/>
            </a:xfrm>
            <a:custGeom>
              <a:avLst/>
              <a:gdLst/>
              <a:ahLst/>
              <a:cxnLst/>
              <a:rect r="r" b="b" t="t" l="l"/>
              <a:pathLst>
                <a:path h="6400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074" r="0" b="-3907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292608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 spc="300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RISQUE  MOYEN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2125980" y="5417820"/>
            <a:ext cx="15087600" cy="754380"/>
            <a:chOff x="0" y="0"/>
            <a:chExt cx="20116800" cy="10058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116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01168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Inondation de fausses mises à jour pour saturer les routeurs ou forcer des recalculs constants de la table de routage.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2125980" y="6240780"/>
            <a:ext cx="342900" cy="342900"/>
            <a:chOff x="0" y="0"/>
            <a:chExt cx="457200" cy="457200"/>
          </a:xfrm>
        </p:grpSpPr>
        <p:sp>
          <p:nvSpPr>
            <p:cNvPr name="Freeform 60" id="60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2537460" y="6240780"/>
            <a:ext cx="2057400" cy="411480"/>
            <a:chOff x="0" y="0"/>
            <a:chExt cx="2743200" cy="5486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743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2743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Mitigation : 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4046220" y="6240780"/>
            <a:ext cx="13030200" cy="411480"/>
            <a:chOff x="0" y="0"/>
            <a:chExt cx="17373600" cy="5486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7373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7026" r="0" b="-56702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17373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ACL sur le port UDP 520, filtrage des voisins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81038" y="6990397"/>
            <a:ext cx="16880205" cy="2135505"/>
            <a:chOff x="0" y="0"/>
            <a:chExt cx="22506940" cy="28473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6350" y="6350"/>
              <a:ext cx="22494239" cy="2834640"/>
            </a:xfrm>
            <a:custGeom>
              <a:avLst/>
              <a:gdLst/>
              <a:ahLst/>
              <a:cxnLst/>
              <a:rect r="r" b="b" t="t" l="l"/>
              <a:pathLst>
                <a:path h="283464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2834640"/>
                  </a:lnTo>
                  <a:lnTo>
                    <a:pt x="0" y="28346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2506939" cy="2847340"/>
            </a:xfrm>
            <a:custGeom>
              <a:avLst/>
              <a:gdLst/>
              <a:ahLst/>
              <a:cxnLst/>
              <a:rect r="r" b="b" t="t" l="l"/>
              <a:pathLst>
                <a:path h="2847340" w="22506939">
                  <a:moveTo>
                    <a:pt x="6350" y="0"/>
                  </a:moveTo>
                  <a:lnTo>
                    <a:pt x="22500589" y="0"/>
                  </a:lnTo>
                  <a:cubicBezTo>
                    <a:pt x="22504146" y="0"/>
                    <a:pt x="22506939" y="2794"/>
                    <a:pt x="22506939" y="6350"/>
                  </a:cubicBezTo>
                  <a:lnTo>
                    <a:pt x="22506939" y="2840990"/>
                  </a:lnTo>
                  <a:cubicBezTo>
                    <a:pt x="22506939" y="2844546"/>
                    <a:pt x="22504146" y="2847340"/>
                    <a:pt x="22500589" y="2847340"/>
                  </a:cubicBezTo>
                  <a:lnTo>
                    <a:pt x="6350" y="2847340"/>
                  </a:lnTo>
                  <a:cubicBezTo>
                    <a:pt x="2794" y="2847340"/>
                    <a:pt x="0" y="2844546"/>
                    <a:pt x="0" y="284099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2840990"/>
                  </a:lnTo>
                  <a:lnTo>
                    <a:pt x="6350" y="2840990"/>
                  </a:lnTo>
                  <a:lnTo>
                    <a:pt x="6350" y="2834640"/>
                  </a:lnTo>
                  <a:lnTo>
                    <a:pt x="22500589" y="2834640"/>
                  </a:lnTo>
                  <a:lnTo>
                    <a:pt x="22500589" y="2840990"/>
                  </a:lnTo>
                  <a:lnTo>
                    <a:pt x="22494239" y="2840990"/>
                  </a:lnTo>
                  <a:lnTo>
                    <a:pt x="22494239" y="6350"/>
                  </a:lnTo>
                  <a:lnTo>
                    <a:pt x="22500589" y="6350"/>
                  </a:lnTo>
                  <a:lnTo>
                    <a:pt x="22500589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76275" y="6985635"/>
            <a:ext cx="156210" cy="2145030"/>
            <a:chOff x="0" y="0"/>
            <a:chExt cx="208280" cy="28600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2700" y="12700"/>
              <a:ext cx="18288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82880">
                  <a:moveTo>
                    <a:pt x="0" y="0"/>
                  </a:moveTo>
                  <a:lnTo>
                    <a:pt x="182880" y="0"/>
                  </a:lnTo>
                  <a:lnTo>
                    <a:pt x="182880" y="2834640"/>
                  </a:lnTo>
                  <a:lnTo>
                    <a:pt x="0" y="2834640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08280" cy="2860040"/>
            </a:xfrm>
            <a:custGeom>
              <a:avLst/>
              <a:gdLst/>
              <a:ahLst/>
              <a:cxnLst/>
              <a:rect r="r" b="b" t="t" l="l"/>
              <a:pathLst>
                <a:path h="2860040" w="208280">
                  <a:moveTo>
                    <a:pt x="12700" y="0"/>
                  </a:moveTo>
                  <a:lnTo>
                    <a:pt x="195580" y="0"/>
                  </a:lnTo>
                  <a:cubicBezTo>
                    <a:pt x="202565" y="0"/>
                    <a:pt x="208280" y="5715"/>
                    <a:pt x="208280" y="12700"/>
                  </a:cubicBezTo>
                  <a:lnTo>
                    <a:pt x="208280" y="2847340"/>
                  </a:lnTo>
                  <a:cubicBezTo>
                    <a:pt x="208280" y="2854325"/>
                    <a:pt x="202565" y="2860040"/>
                    <a:pt x="195580" y="2860040"/>
                  </a:cubicBezTo>
                  <a:lnTo>
                    <a:pt x="12700" y="2860040"/>
                  </a:lnTo>
                  <a:cubicBezTo>
                    <a:pt x="5715" y="2860040"/>
                    <a:pt x="0" y="2854325"/>
                    <a:pt x="0" y="28473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47340"/>
                  </a:lnTo>
                  <a:lnTo>
                    <a:pt x="12700" y="2847340"/>
                  </a:lnTo>
                  <a:lnTo>
                    <a:pt x="12700" y="2834640"/>
                  </a:lnTo>
                  <a:lnTo>
                    <a:pt x="195580" y="2834640"/>
                  </a:lnTo>
                  <a:lnTo>
                    <a:pt x="195580" y="2847340"/>
                  </a:lnTo>
                  <a:lnTo>
                    <a:pt x="182880" y="2847340"/>
                  </a:lnTo>
                  <a:lnTo>
                    <a:pt x="182880" y="12700"/>
                  </a:lnTo>
                  <a:lnTo>
                    <a:pt x="195580" y="12700"/>
                  </a:lnTo>
                  <a:lnTo>
                    <a:pt x="1955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165860" y="7749540"/>
            <a:ext cx="685800" cy="685800"/>
            <a:chOff x="0" y="0"/>
            <a:chExt cx="914400" cy="914400"/>
          </a:xfrm>
        </p:grpSpPr>
        <p:sp>
          <p:nvSpPr>
            <p:cNvPr name="Freeform 74" id="74" descr="preencoded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2125980" y="7200900"/>
            <a:ext cx="9601200" cy="548640"/>
            <a:chOff x="0" y="0"/>
            <a:chExt cx="12801600" cy="7315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28016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128016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1F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Écoute passive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5078075" y="7232523"/>
            <a:ext cx="2213610" cy="499110"/>
            <a:chOff x="0" y="0"/>
            <a:chExt cx="2951480" cy="6654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12700" y="12700"/>
              <a:ext cx="2926080" cy="640080"/>
            </a:xfrm>
            <a:custGeom>
              <a:avLst/>
              <a:gdLst/>
              <a:ahLst/>
              <a:cxnLst/>
              <a:rect r="r" b="b" t="t" l="l"/>
              <a:pathLst>
                <a:path h="6400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951480" cy="665480"/>
            </a:xfrm>
            <a:custGeom>
              <a:avLst/>
              <a:gdLst/>
              <a:ahLst/>
              <a:cxnLst/>
              <a:rect r="r" b="b" t="t" l="l"/>
              <a:pathLst>
                <a:path h="665480" w="2951480">
                  <a:moveTo>
                    <a:pt x="12700" y="0"/>
                  </a:moveTo>
                  <a:lnTo>
                    <a:pt x="2938780" y="0"/>
                  </a:lnTo>
                  <a:cubicBezTo>
                    <a:pt x="2945765" y="0"/>
                    <a:pt x="2951480" y="5715"/>
                    <a:pt x="2951480" y="12700"/>
                  </a:cubicBezTo>
                  <a:lnTo>
                    <a:pt x="2951480" y="652780"/>
                  </a:lnTo>
                  <a:cubicBezTo>
                    <a:pt x="2951480" y="659765"/>
                    <a:pt x="2945765" y="665480"/>
                    <a:pt x="2938780" y="665480"/>
                  </a:cubicBezTo>
                  <a:lnTo>
                    <a:pt x="12700" y="665480"/>
                  </a:lnTo>
                  <a:cubicBezTo>
                    <a:pt x="5715" y="665480"/>
                    <a:pt x="0" y="659765"/>
                    <a:pt x="0" y="6527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52780"/>
                  </a:lnTo>
                  <a:lnTo>
                    <a:pt x="12700" y="652780"/>
                  </a:lnTo>
                  <a:lnTo>
                    <a:pt x="12700" y="640080"/>
                  </a:lnTo>
                  <a:lnTo>
                    <a:pt x="2938780" y="640080"/>
                  </a:lnTo>
                  <a:lnTo>
                    <a:pt x="2938780" y="652780"/>
                  </a:lnTo>
                  <a:lnTo>
                    <a:pt x="2926080" y="652780"/>
                  </a:lnTo>
                  <a:lnTo>
                    <a:pt x="2926080" y="12700"/>
                  </a:lnTo>
                  <a:lnTo>
                    <a:pt x="2938780" y="12700"/>
                  </a:lnTo>
                  <a:lnTo>
                    <a:pt x="29387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5087600" y="7242048"/>
            <a:ext cx="2194560" cy="480060"/>
            <a:chOff x="0" y="0"/>
            <a:chExt cx="2926080" cy="64008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926080" cy="640080"/>
            </a:xfrm>
            <a:custGeom>
              <a:avLst/>
              <a:gdLst/>
              <a:ahLst/>
              <a:cxnLst/>
              <a:rect r="r" b="b" t="t" l="l"/>
              <a:pathLst>
                <a:path h="6400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074" r="0" b="-39074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28575"/>
              <a:ext cx="292608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 spc="300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RISQUE  MOYEN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2125980" y="7749540"/>
            <a:ext cx="15087600" cy="754380"/>
            <a:chOff x="0" y="0"/>
            <a:chExt cx="20116800" cy="10058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0116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201168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 multicast 224.0.0.9 expose la topologie complète du réseau interne à toute machine connectée au même segment.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2125980" y="8572500"/>
            <a:ext cx="342900" cy="342900"/>
            <a:chOff x="0" y="0"/>
            <a:chExt cx="457200" cy="457200"/>
          </a:xfrm>
        </p:grpSpPr>
        <p:sp>
          <p:nvSpPr>
            <p:cNvPr name="Freeform 88" id="88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2537460" y="8572500"/>
            <a:ext cx="2057400" cy="411480"/>
            <a:chOff x="0" y="0"/>
            <a:chExt cx="2743200" cy="5486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743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2743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Mitigation : 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4046220" y="8572500"/>
            <a:ext cx="13030200" cy="411480"/>
            <a:chOff x="0" y="0"/>
            <a:chExt cx="17373600" cy="5486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7373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7026" r="0" b="-567026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28575"/>
              <a:ext cx="17373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Segmentation VLAN, interfaces passives sur LAN sans routeur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678656" y="9662636"/>
            <a:ext cx="16884968" cy="14288"/>
            <a:chOff x="0" y="0"/>
            <a:chExt cx="22513290" cy="1905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9525" y="0"/>
              <a:ext cx="22494239" cy="19050"/>
            </a:xfrm>
            <a:custGeom>
              <a:avLst/>
              <a:gdLst/>
              <a:ahLst/>
              <a:cxnLst/>
              <a:rect r="r" b="b" t="t" l="l"/>
              <a:pathLst>
                <a:path h="1905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685800" y="9738360"/>
            <a:ext cx="10972800" cy="411480"/>
            <a:chOff x="0" y="0"/>
            <a:chExt cx="14630400" cy="5486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RIP — Routing Information Protocol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6184880" y="9738360"/>
            <a:ext cx="1371600" cy="411480"/>
            <a:chOff x="0" y="0"/>
            <a:chExt cx="1828800" cy="54864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 / 12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52725" y="6848475"/>
            <a:ext cx="6877050" cy="6877050"/>
            <a:chOff x="0" y="0"/>
            <a:chExt cx="9169400" cy="9169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1C7293">
                <a:alpha val="8627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9400" cy="9169400"/>
            </a:xfrm>
            <a:custGeom>
              <a:avLst/>
              <a:gdLst/>
              <a:ahLst/>
              <a:cxnLst/>
              <a:rect r="r" b="b" t="t" l="l"/>
              <a:pathLst>
                <a:path h="9169400" w="9169400">
                  <a:moveTo>
                    <a:pt x="0" y="4584700"/>
                  </a:moveTo>
                  <a:cubicBezTo>
                    <a:pt x="0" y="2052701"/>
                    <a:pt x="2052701" y="0"/>
                    <a:pt x="4584700" y="0"/>
                  </a:cubicBezTo>
                  <a:lnTo>
                    <a:pt x="4584700" y="12700"/>
                  </a:lnTo>
                  <a:lnTo>
                    <a:pt x="4584700" y="0"/>
                  </a:lnTo>
                  <a:cubicBezTo>
                    <a:pt x="7116699" y="0"/>
                    <a:pt x="9169400" y="2052701"/>
                    <a:pt x="9169400" y="4584700"/>
                  </a:cubicBezTo>
                  <a:lnTo>
                    <a:pt x="9156700" y="4584700"/>
                  </a:lnTo>
                  <a:lnTo>
                    <a:pt x="9169400" y="4584700"/>
                  </a:lnTo>
                  <a:cubicBezTo>
                    <a:pt x="9169400" y="7116699"/>
                    <a:pt x="7116699" y="9169400"/>
                    <a:pt x="4584700" y="9169400"/>
                  </a:cubicBezTo>
                  <a:lnTo>
                    <a:pt x="4584700" y="9156700"/>
                  </a:lnTo>
                  <a:lnTo>
                    <a:pt x="4584700" y="9169400"/>
                  </a:lnTo>
                  <a:cubicBezTo>
                    <a:pt x="2052701" y="9169400"/>
                    <a:pt x="0" y="7116699"/>
                    <a:pt x="0" y="4584700"/>
                  </a:cubicBezTo>
                  <a:lnTo>
                    <a:pt x="12700" y="4584700"/>
                  </a:lnTo>
                  <a:lnTo>
                    <a:pt x="25400" y="4584700"/>
                  </a:lnTo>
                  <a:lnTo>
                    <a:pt x="12700" y="4584700"/>
                  </a:lnTo>
                  <a:lnTo>
                    <a:pt x="0" y="4584700"/>
                  </a:lnTo>
                  <a:moveTo>
                    <a:pt x="25400" y="4584700"/>
                  </a:moveTo>
                  <a:cubicBezTo>
                    <a:pt x="25400" y="4591685"/>
                    <a:pt x="19685" y="4597400"/>
                    <a:pt x="12700" y="4597400"/>
                  </a:cubicBezTo>
                  <a:cubicBezTo>
                    <a:pt x="5715" y="4597400"/>
                    <a:pt x="0" y="4591685"/>
                    <a:pt x="0" y="4584700"/>
                  </a:cubicBezTo>
                  <a:cubicBezTo>
                    <a:pt x="0" y="4577715"/>
                    <a:pt x="5715" y="4572000"/>
                    <a:pt x="12700" y="4572000"/>
                  </a:cubicBezTo>
                  <a:cubicBezTo>
                    <a:pt x="19685" y="4572000"/>
                    <a:pt x="25400" y="4577715"/>
                    <a:pt x="25400" y="4584700"/>
                  </a:cubicBezTo>
                  <a:cubicBezTo>
                    <a:pt x="25400" y="7102729"/>
                    <a:pt x="2066671" y="9144000"/>
                    <a:pt x="4584700" y="9144000"/>
                  </a:cubicBezTo>
                  <a:cubicBezTo>
                    <a:pt x="7102729" y="9144000"/>
                    <a:pt x="9144000" y="7102729"/>
                    <a:pt x="9144000" y="4584700"/>
                  </a:cubicBezTo>
                  <a:cubicBezTo>
                    <a:pt x="9144000" y="2066671"/>
                    <a:pt x="7102729" y="25400"/>
                    <a:pt x="4584700" y="25400"/>
                  </a:cubicBezTo>
                  <a:lnTo>
                    <a:pt x="4584700" y="12700"/>
                  </a:lnTo>
                  <a:lnTo>
                    <a:pt x="4584700" y="25400"/>
                  </a:lnTo>
                  <a:cubicBezTo>
                    <a:pt x="2066671" y="25400"/>
                    <a:pt x="25400" y="2066671"/>
                    <a:pt x="25400" y="458470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5078075" y="-2752725"/>
            <a:ext cx="5505450" cy="5505450"/>
            <a:chOff x="0" y="0"/>
            <a:chExt cx="7340600" cy="7340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22D3EE">
                <a:alpha val="3922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40600" cy="7340600"/>
            </a:xfrm>
            <a:custGeom>
              <a:avLst/>
              <a:gdLst/>
              <a:ahLst/>
              <a:cxnLst/>
              <a:rect r="r" b="b" t="t" l="l"/>
              <a:pathLst>
                <a:path h="7340600" w="7340600">
                  <a:moveTo>
                    <a:pt x="0" y="3670300"/>
                  </a:moveTo>
                  <a:cubicBezTo>
                    <a:pt x="0" y="1643253"/>
                    <a:pt x="1643253" y="0"/>
                    <a:pt x="3670300" y="0"/>
                  </a:cubicBezTo>
                  <a:lnTo>
                    <a:pt x="3670300" y="12700"/>
                  </a:lnTo>
                  <a:lnTo>
                    <a:pt x="3670300" y="0"/>
                  </a:lnTo>
                  <a:cubicBezTo>
                    <a:pt x="5697347" y="0"/>
                    <a:pt x="7340600" y="1643253"/>
                    <a:pt x="7340600" y="3670300"/>
                  </a:cubicBezTo>
                  <a:cubicBezTo>
                    <a:pt x="7340600" y="5697347"/>
                    <a:pt x="5697347" y="7340600"/>
                    <a:pt x="3670300" y="7340600"/>
                  </a:cubicBezTo>
                  <a:lnTo>
                    <a:pt x="3670300" y="7327900"/>
                  </a:lnTo>
                  <a:lnTo>
                    <a:pt x="3670300" y="7340600"/>
                  </a:lnTo>
                  <a:cubicBezTo>
                    <a:pt x="1643253" y="7340600"/>
                    <a:pt x="0" y="5697347"/>
                    <a:pt x="0" y="3670300"/>
                  </a:cubicBezTo>
                  <a:lnTo>
                    <a:pt x="12700" y="3670300"/>
                  </a:lnTo>
                  <a:lnTo>
                    <a:pt x="23368" y="3677158"/>
                  </a:lnTo>
                  <a:cubicBezTo>
                    <a:pt x="20320" y="3681857"/>
                    <a:pt x="14478" y="3684016"/>
                    <a:pt x="9144" y="3682492"/>
                  </a:cubicBezTo>
                  <a:cubicBezTo>
                    <a:pt x="3810" y="3680968"/>
                    <a:pt x="0" y="3675888"/>
                    <a:pt x="0" y="3670300"/>
                  </a:cubicBezTo>
                  <a:moveTo>
                    <a:pt x="25400" y="3670300"/>
                  </a:moveTo>
                  <a:lnTo>
                    <a:pt x="12700" y="3670300"/>
                  </a:lnTo>
                  <a:lnTo>
                    <a:pt x="2032" y="3663442"/>
                  </a:lnTo>
                  <a:cubicBezTo>
                    <a:pt x="5080" y="3658743"/>
                    <a:pt x="10922" y="3656584"/>
                    <a:pt x="16256" y="3658108"/>
                  </a:cubicBezTo>
                  <a:cubicBezTo>
                    <a:pt x="21590" y="3659632"/>
                    <a:pt x="25400" y="3664712"/>
                    <a:pt x="25400" y="3670300"/>
                  </a:cubicBezTo>
                  <a:cubicBezTo>
                    <a:pt x="25400" y="5683377"/>
                    <a:pt x="1657223" y="7315200"/>
                    <a:pt x="3670300" y="7315200"/>
                  </a:cubicBezTo>
                  <a:cubicBezTo>
                    <a:pt x="5683377" y="7315200"/>
                    <a:pt x="7315200" y="5683377"/>
                    <a:pt x="7315200" y="3670300"/>
                  </a:cubicBezTo>
                  <a:lnTo>
                    <a:pt x="7327900" y="3670300"/>
                  </a:lnTo>
                  <a:lnTo>
                    <a:pt x="7315200" y="3670300"/>
                  </a:lnTo>
                  <a:cubicBezTo>
                    <a:pt x="7315200" y="1657223"/>
                    <a:pt x="5683377" y="25400"/>
                    <a:pt x="3670300" y="25400"/>
                  </a:cubicBezTo>
                  <a:lnTo>
                    <a:pt x="3670300" y="12700"/>
                  </a:lnTo>
                  <a:lnTo>
                    <a:pt x="3670300" y="25400"/>
                  </a:lnTo>
                  <a:cubicBezTo>
                    <a:pt x="1657223" y="25400"/>
                    <a:pt x="25400" y="1657223"/>
                    <a:pt x="25400" y="367030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0120" y="960120"/>
            <a:ext cx="13716000" cy="548640"/>
            <a:chOff x="0" y="0"/>
            <a:chExt cx="182880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8288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22D3EE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CONCLUSION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0120" y="1645920"/>
            <a:ext cx="16459200" cy="2194560"/>
            <a:chOff x="0" y="0"/>
            <a:chExt cx="21945600" cy="2926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1945600" cy="2935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39"/>
                </a:lnSpc>
              </a:pPr>
              <a:r>
                <a:rPr lang="en-US" sz="57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Un protocole pédagogique,</a:t>
              </a:r>
            </a:p>
            <a:p>
              <a:pPr algn="l">
                <a:lnSpc>
                  <a:spcPts val="6839"/>
                </a:lnSpc>
              </a:pPr>
              <a:r>
                <a:rPr lang="en-US" sz="57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rarement un choix de production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0595" y="4036695"/>
            <a:ext cx="1664970" cy="101346"/>
            <a:chOff x="0" y="0"/>
            <a:chExt cx="2219960" cy="1351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2194560" cy="109728"/>
            </a:xfrm>
            <a:custGeom>
              <a:avLst/>
              <a:gdLst/>
              <a:ahLst/>
              <a:cxnLst/>
              <a:rect r="r" b="b" t="t" l="l"/>
              <a:pathLst>
                <a:path h="10972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19960" cy="135128"/>
            </a:xfrm>
            <a:custGeom>
              <a:avLst/>
              <a:gdLst/>
              <a:ahLst/>
              <a:cxnLst/>
              <a:rect r="r" b="b" t="t" l="l"/>
              <a:pathLst>
                <a:path h="135128" w="2219960">
                  <a:moveTo>
                    <a:pt x="12700" y="0"/>
                  </a:moveTo>
                  <a:lnTo>
                    <a:pt x="2207260" y="0"/>
                  </a:lnTo>
                  <a:cubicBezTo>
                    <a:pt x="2214245" y="0"/>
                    <a:pt x="2219960" y="5715"/>
                    <a:pt x="2219960" y="12700"/>
                  </a:cubicBezTo>
                  <a:lnTo>
                    <a:pt x="2219960" y="122428"/>
                  </a:lnTo>
                  <a:cubicBezTo>
                    <a:pt x="2219960" y="129413"/>
                    <a:pt x="2214245" y="135128"/>
                    <a:pt x="2207260" y="135128"/>
                  </a:cubicBezTo>
                  <a:lnTo>
                    <a:pt x="12700" y="135128"/>
                  </a:lnTo>
                  <a:cubicBezTo>
                    <a:pt x="5715" y="135128"/>
                    <a:pt x="0" y="129413"/>
                    <a:pt x="0" y="12242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2428"/>
                  </a:lnTo>
                  <a:lnTo>
                    <a:pt x="12700" y="122428"/>
                  </a:lnTo>
                  <a:lnTo>
                    <a:pt x="12700" y="109728"/>
                  </a:lnTo>
                  <a:lnTo>
                    <a:pt x="2207260" y="109728"/>
                  </a:lnTo>
                  <a:lnTo>
                    <a:pt x="2207260" y="122428"/>
                  </a:lnTo>
                  <a:lnTo>
                    <a:pt x="2194560" y="122428"/>
                  </a:lnTo>
                  <a:lnTo>
                    <a:pt x="2194560" y="12700"/>
                  </a:lnTo>
                  <a:lnTo>
                    <a:pt x="2207260" y="12700"/>
                  </a:lnTo>
                  <a:lnTo>
                    <a:pt x="22072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55357" y="4658678"/>
            <a:ext cx="5495925" cy="3438525"/>
            <a:chOff x="0" y="0"/>
            <a:chExt cx="7327900" cy="45847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" y="6350"/>
              <a:ext cx="73152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572000"/>
                  </a:lnTo>
                  <a:lnTo>
                    <a:pt x="0" y="4572000"/>
                  </a:lnTo>
                  <a:close/>
                </a:path>
              </a:pathLst>
            </a:custGeom>
            <a:solidFill>
              <a:srgbClr val="0E2A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27900" cy="4584700"/>
            </a:xfrm>
            <a:custGeom>
              <a:avLst/>
              <a:gdLst/>
              <a:ahLst/>
              <a:cxnLst/>
              <a:rect r="r" b="b" t="t" l="l"/>
              <a:pathLst>
                <a:path h="4584700" w="7327900">
                  <a:moveTo>
                    <a:pt x="6350" y="0"/>
                  </a:moveTo>
                  <a:lnTo>
                    <a:pt x="7321550" y="0"/>
                  </a:lnTo>
                  <a:cubicBezTo>
                    <a:pt x="7325106" y="0"/>
                    <a:pt x="7327900" y="2794"/>
                    <a:pt x="7327900" y="6350"/>
                  </a:cubicBezTo>
                  <a:lnTo>
                    <a:pt x="7327900" y="4578350"/>
                  </a:lnTo>
                  <a:cubicBezTo>
                    <a:pt x="7327900" y="4581906"/>
                    <a:pt x="7325106" y="4584700"/>
                    <a:pt x="7321550" y="4584700"/>
                  </a:cubicBezTo>
                  <a:lnTo>
                    <a:pt x="6350" y="4584700"/>
                  </a:lnTo>
                  <a:cubicBezTo>
                    <a:pt x="2794" y="4584700"/>
                    <a:pt x="0" y="4581906"/>
                    <a:pt x="0" y="457835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4578350"/>
                  </a:lnTo>
                  <a:lnTo>
                    <a:pt x="6350" y="4578350"/>
                  </a:lnTo>
                  <a:lnTo>
                    <a:pt x="6350" y="4572000"/>
                  </a:lnTo>
                  <a:lnTo>
                    <a:pt x="7321550" y="4572000"/>
                  </a:lnTo>
                  <a:lnTo>
                    <a:pt x="7321550" y="4578350"/>
                  </a:lnTo>
                  <a:lnTo>
                    <a:pt x="7315200" y="4578350"/>
                  </a:lnTo>
                  <a:lnTo>
                    <a:pt x="7315200" y="6350"/>
                  </a:lnTo>
                  <a:lnTo>
                    <a:pt x="7321550" y="6350"/>
                  </a:lnTo>
                  <a:lnTo>
                    <a:pt x="732155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50595" y="4653915"/>
            <a:ext cx="128778" cy="3448050"/>
            <a:chOff x="0" y="0"/>
            <a:chExt cx="171704" cy="4597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00" y="12700"/>
              <a:ext cx="146304" cy="4572000"/>
            </a:xfrm>
            <a:custGeom>
              <a:avLst/>
              <a:gdLst/>
              <a:ahLst/>
              <a:cxnLst/>
              <a:rect r="r" b="b" t="t" l="l"/>
              <a:pathLst>
                <a:path h="45720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4572000"/>
                  </a:lnTo>
                  <a:lnTo>
                    <a:pt x="0" y="4572000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1704" cy="4597400"/>
            </a:xfrm>
            <a:custGeom>
              <a:avLst/>
              <a:gdLst/>
              <a:ahLst/>
              <a:cxnLst/>
              <a:rect r="r" b="b" t="t" l="l"/>
              <a:pathLst>
                <a:path h="459740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4584700"/>
                  </a:lnTo>
                  <a:cubicBezTo>
                    <a:pt x="171704" y="4591685"/>
                    <a:pt x="165989" y="4597400"/>
                    <a:pt x="159004" y="4597400"/>
                  </a:cubicBezTo>
                  <a:lnTo>
                    <a:pt x="12700" y="4597400"/>
                  </a:lnTo>
                  <a:cubicBezTo>
                    <a:pt x="5715" y="4597400"/>
                    <a:pt x="0" y="4591685"/>
                    <a:pt x="0" y="4584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584700"/>
                  </a:lnTo>
                  <a:lnTo>
                    <a:pt x="12700" y="4584700"/>
                  </a:lnTo>
                  <a:lnTo>
                    <a:pt x="12700" y="4572000"/>
                  </a:lnTo>
                  <a:lnTo>
                    <a:pt x="159004" y="4572000"/>
                  </a:lnTo>
                  <a:lnTo>
                    <a:pt x="159004" y="4584700"/>
                  </a:lnTo>
                  <a:lnTo>
                    <a:pt x="146304" y="458470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03020" y="4869180"/>
            <a:ext cx="1371600" cy="548640"/>
            <a:chOff x="0" y="0"/>
            <a:chExt cx="182880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2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828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2D3EE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03020" y="5417820"/>
            <a:ext cx="4937760" cy="685800"/>
            <a:chOff x="0" y="0"/>
            <a:chExt cx="6583680" cy="914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583680" cy="914400"/>
            </a:xfrm>
            <a:custGeom>
              <a:avLst/>
              <a:gdLst/>
              <a:ahLst/>
              <a:cxnLst/>
              <a:rect r="r" b="b" t="t" l="l"/>
              <a:pathLst>
                <a:path h="914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658368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Simplicité historique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03020" y="6172200"/>
            <a:ext cx="4937760" cy="1851660"/>
            <a:chOff x="0" y="0"/>
            <a:chExt cx="6583680" cy="24688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5836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583680" cy="2506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RIP a été l'un des premiers IGP standardisés. Sa simplicité de mise en œuvre en fait encore un excellent support d'enseignement.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784657" y="4658678"/>
            <a:ext cx="5495925" cy="3438525"/>
            <a:chOff x="0" y="0"/>
            <a:chExt cx="7327900" cy="4584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6350" y="6350"/>
              <a:ext cx="73152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572000"/>
                  </a:lnTo>
                  <a:lnTo>
                    <a:pt x="0" y="4572000"/>
                  </a:lnTo>
                  <a:close/>
                </a:path>
              </a:pathLst>
            </a:custGeom>
            <a:solidFill>
              <a:srgbClr val="0E2A4A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27900" cy="4584700"/>
            </a:xfrm>
            <a:custGeom>
              <a:avLst/>
              <a:gdLst/>
              <a:ahLst/>
              <a:cxnLst/>
              <a:rect r="r" b="b" t="t" l="l"/>
              <a:pathLst>
                <a:path h="4584700" w="7327900">
                  <a:moveTo>
                    <a:pt x="6350" y="0"/>
                  </a:moveTo>
                  <a:lnTo>
                    <a:pt x="7321550" y="0"/>
                  </a:lnTo>
                  <a:cubicBezTo>
                    <a:pt x="7325106" y="0"/>
                    <a:pt x="7327900" y="2794"/>
                    <a:pt x="7327900" y="6350"/>
                  </a:cubicBezTo>
                  <a:lnTo>
                    <a:pt x="7327900" y="4578350"/>
                  </a:lnTo>
                  <a:cubicBezTo>
                    <a:pt x="7327900" y="4581906"/>
                    <a:pt x="7325106" y="4584700"/>
                    <a:pt x="7321550" y="4584700"/>
                  </a:cubicBezTo>
                  <a:lnTo>
                    <a:pt x="6350" y="4584700"/>
                  </a:lnTo>
                  <a:cubicBezTo>
                    <a:pt x="2794" y="4584700"/>
                    <a:pt x="0" y="4581906"/>
                    <a:pt x="0" y="457835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4578350"/>
                  </a:lnTo>
                  <a:lnTo>
                    <a:pt x="6350" y="4578350"/>
                  </a:lnTo>
                  <a:lnTo>
                    <a:pt x="6350" y="4572000"/>
                  </a:lnTo>
                  <a:lnTo>
                    <a:pt x="7321550" y="4572000"/>
                  </a:lnTo>
                  <a:lnTo>
                    <a:pt x="7321550" y="4578350"/>
                  </a:lnTo>
                  <a:lnTo>
                    <a:pt x="7315200" y="4578350"/>
                  </a:lnTo>
                  <a:lnTo>
                    <a:pt x="7315200" y="6350"/>
                  </a:lnTo>
                  <a:lnTo>
                    <a:pt x="7321550" y="6350"/>
                  </a:lnTo>
                  <a:lnTo>
                    <a:pt x="732155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779895" y="4653915"/>
            <a:ext cx="128778" cy="3448050"/>
            <a:chOff x="0" y="0"/>
            <a:chExt cx="171704" cy="4597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2700" y="12700"/>
              <a:ext cx="146304" cy="4572000"/>
            </a:xfrm>
            <a:custGeom>
              <a:avLst/>
              <a:gdLst/>
              <a:ahLst/>
              <a:cxnLst/>
              <a:rect r="r" b="b" t="t" l="l"/>
              <a:pathLst>
                <a:path h="45720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4572000"/>
                  </a:lnTo>
                  <a:lnTo>
                    <a:pt x="0" y="4572000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71704" cy="4597400"/>
            </a:xfrm>
            <a:custGeom>
              <a:avLst/>
              <a:gdLst/>
              <a:ahLst/>
              <a:cxnLst/>
              <a:rect r="r" b="b" t="t" l="l"/>
              <a:pathLst>
                <a:path h="459740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4584700"/>
                  </a:lnTo>
                  <a:cubicBezTo>
                    <a:pt x="171704" y="4591685"/>
                    <a:pt x="165989" y="4597400"/>
                    <a:pt x="159004" y="4597400"/>
                  </a:cubicBezTo>
                  <a:lnTo>
                    <a:pt x="12700" y="4597400"/>
                  </a:lnTo>
                  <a:cubicBezTo>
                    <a:pt x="5715" y="4597400"/>
                    <a:pt x="0" y="4591685"/>
                    <a:pt x="0" y="4584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584700"/>
                  </a:lnTo>
                  <a:lnTo>
                    <a:pt x="12700" y="4584700"/>
                  </a:lnTo>
                  <a:lnTo>
                    <a:pt x="12700" y="4572000"/>
                  </a:lnTo>
                  <a:lnTo>
                    <a:pt x="159004" y="4572000"/>
                  </a:lnTo>
                  <a:lnTo>
                    <a:pt x="159004" y="4584700"/>
                  </a:lnTo>
                  <a:lnTo>
                    <a:pt x="146304" y="458470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132320" y="4869180"/>
            <a:ext cx="1371600" cy="548640"/>
            <a:chOff x="0" y="0"/>
            <a:chExt cx="182880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82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828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2D3EE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02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132320" y="5417820"/>
            <a:ext cx="4937760" cy="685800"/>
            <a:chOff x="0" y="0"/>
            <a:chExt cx="658368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583680" cy="914400"/>
            </a:xfrm>
            <a:custGeom>
              <a:avLst/>
              <a:gdLst/>
              <a:ahLst/>
              <a:cxnLst/>
              <a:rect r="r" b="b" t="t" l="l"/>
              <a:pathLst>
                <a:path h="914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658368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Limites structurelles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132320" y="6172200"/>
            <a:ext cx="4937760" cy="1851660"/>
            <a:chOff x="0" y="0"/>
            <a:chExt cx="6583680" cy="24688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5836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583680" cy="2506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Métrique trop simple, convergence lente, diamètre de 15 sauts : RIP est inadapté aux réseaux modernes de taille moyenne ou grande.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613957" y="4658678"/>
            <a:ext cx="5495925" cy="3438525"/>
            <a:chOff x="0" y="0"/>
            <a:chExt cx="7327900" cy="45847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6350" y="6350"/>
              <a:ext cx="73152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572000"/>
                  </a:lnTo>
                  <a:lnTo>
                    <a:pt x="0" y="4572000"/>
                  </a:lnTo>
                  <a:close/>
                </a:path>
              </a:pathLst>
            </a:custGeom>
            <a:solidFill>
              <a:srgbClr val="0E2A4A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327900" cy="4584700"/>
            </a:xfrm>
            <a:custGeom>
              <a:avLst/>
              <a:gdLst/>
              <a:ahLst/>
              <a:cxnLst/>
              <a:rect r="r" b="b" t="t" l="l"/>
              <a:pathLst>
                <a:path h="4584700" w="7327900">
                  <a:moveTo>
                    <a:pt x="6350" y="0"/>
                  </a:moveTo>
                  <a:lnTo>
                    <a:pt x="7321550" y="0"/>
                  </a:lnTo>
                  <a:cubicBezTo>
                    <a:pt x="7325106" y="0"/>
                    <a:pt x="7327900" y="2794"/>
                    <a:pt x="7327900" y="6350"/>
                  </a:cubicBezTo>
                  <a:lnTo>
                    <a:pt x="7327900" y="4578350"/>
                  </a:lnTo>
                  <a:cubicBezTo>
                    <a:pt x="7327900" y="4581906"/>
                    <a:pt x="7325106" y="4584700"/>
                    <a:pt x="7321550" y="4584700"/>
                  </a:cubicBezTo>
                  <a:lnTo>
                    <a:pt x="6350" y="4584700"/>
                  </a:lnTo>
                  <a:cubicBezTo>
                    <a:pt x="2794" y="4584700"/>
                    <a:pt x="0" y="4581906"/>
                    <a:pt x="0" y="457835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4578350"/>
                  </a:lnTo>
                  <a:lnTo>
                    <a:pt x="6350" y="4578350"/>
                  </a:lnTo>
                  <a:lnTo>
                    <a:pt x="6350" y="4572000"/>
                  </a:lnTo>
                  <a:lnTo>
                    <a:pt x="7321550" y="4572000"/>
                  </a:lnTo>
                  <a:lnTo>
                    <a:pt x="7321550" y="4578350"/>
                  </a:lnTo>
                  <a:lnTo>
                    <a:pt x="7315200" y="4578350"/>
                  </a:lnTo>
                  <a:lnTo>
                    <a:pt x="7315200" y="6350"/>
                  </a:lnTo>
                  <a:lnTo>
                    <a:pt x="7321550" y="6350"/>
                  </a:lnTo>
                  <a:lnTo>
                    <a:pt x="732155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609195" y="4653915"/>
            <a:ext cx="128778" cy="3448050"/>
            <a:chOff x="0" y="0"/>
            <a:chExt cx="171704" cy="4597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2700" y="12700"/>
              <a:ext cx="146304" cy="4572000"/>
            </a:xfrm>
            <a:custGeom>
              <a:avLst/>
              <a:gdLst/>
              <a:ahLst/>
              <a:cxnLst/>
              <a:rect r="r" b="b" t="t" l="l"/>
              <a:pathLst>
                <a:path h="45720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4572000"/>
                  </a:lnTo>
                  <a:lnTo>
                    <a:pt x="0" y="4572000"/>
                  </a:lnTo>
                  <a:close/>
                </a:path>
              </a:pathLst>
            </a:custGeom>
            <a:solidFill>
              <a:srgbClr val="22D3EE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71704" cy="4597400"/>
            </a:xfrm>
            <a:custGeom>
              <a:avLst/>
              <a:gdLst/>
              <a:ahLst/>
              <a:cxnLst/>
              <a:rect r="r" b="b" t="t" l="l"/>
              <a:pathLst>
                <a:path h="459740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4584700"/>
                  </a:lnTo>
                  <a:cubicBezTo>
                    <a:pt x="171704" y="4591685"/>
                    <a:pt x="165989" y="4597400"/>
                    <a:pt x="159004" y="4597400"/>
                  </a:cubicBezTo>
                  <a:lnTo>
                    <a:pt x="12700" y="4597400"/>
                  </a:lnTo>
                  <a:cubicBezTo>
                    <a:pt x="5715" y="4597400"/>
                    <a:pt x="0" y="4591685"/>
                    <a:pt x="0" y="4584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584700"/>
                  </a:lnTo>
                  <a:lnTo>
                    <a:pt x="12700" y="4584700"/>
                  </a:lnTo>
                  <a:lnTo>
                    <a:pt x="12700" y="4572000"/>
                  </a:lnTo>
                  <a:lnTo>
                    <a:pt x="159004" y="4572000"/>
                  </a:lnTo>
                  <a:lnTo>
                    <a:pt x="159004" y="4584700"/>
                  </a:lnTo>
                  <a:lnTo>
                    <a:pt x="146304" y="458470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961620" y="4869180"/>
            <a:ext cx="1371600" cy="548640"/>
            <a:chOff x="0" y="0"/>
            <a:chExt cx="182880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82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828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2D3EE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03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961620" y="5417820"/>
            <a:ext cx="4937760" cy="685800"/>
            <a:chOff x="0" y="0"/>
            <a:chExt cx="6583680" cy="9144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583680" cy="914400"/>
            </a:xfrm>
            <a:custGeom>
              <a:avLst/>
              <a:gdLst/>
              <a:ahLst/>
              <a:cxnLst/>
              <a:rect r="r" b="b" t="t" l="l"/>
              <a:pathLst>
                <a:path h="914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658368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Remplacé par OSPF / EIGRP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961620" y="6172200"/>
            <a:ext cx="4937760" cy="1851660"/>
            <a:chOff x="0" y="0"/>
            <a:chExt cx="6583680" cy="24688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5836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6583680" cy="2506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 entreprise, OSPF (à état de liens) et EIGRP (Cisco) offrent une convergence plus rapide, une meilleure métrique et une vraie hiérarchie.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60120" y="8366760"/>
            <a:ext cx="10972800" cy="548640"/>
            <a:chOff x="0" y="0"/>
            <a:chExt cx="1463040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i="true">
                  <a:solidFill>
                    <a:srgbClr val="F1F5F9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Merci pour votre attention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DAHIH26rPVk</dc:identifier>
  <dcterms:modified xsi:type="dcterms:W3CDTF">2011-08-01T06:04:30Z</dcterms:modified>
  <cp:revision>1</cp:revision>
  <dc:title>Envoi périodique de toute la table toutes les 30 s, même si rien ne change : coûteux sur grands réseaux.</dc:title>
</cp:coreProperties>
</file>